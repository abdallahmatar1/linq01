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y="12192000" cx="21678900"/>
  <p:notesSz cx="12192000" cy="21678900"/>
  <p:embeddedFontLst>
    <p:embeddedFont>
      <p:font typeface="Arial Black"/>
      <p:regular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8" roundtripDataSignature="AMtx7mg+H3m+uNZ/xH39vO8WnOj/OrDQ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C0C676-757B-4389-9DC6-301904F0388F}">
  <a:tblStyle styleId="{F8C0C676-757B-4389-9DC6-301904F03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customschemas.google.com/relationships/presentationmetadata" Target="metadata"/><Relationship Id="rId43" Type="http://schemas.openxmlformats.org/officeDocument/2006/relationships/slide" Target="slides/slide38.xml"/><Relationship Id="rId87" Type="http://schemas.openxmlformats.org/officeDocument/2006/relationships/font" Target="fonts/ArialBlack-regular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17890b5fe3eed53b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17890b5fe3eed53b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17890b5fe3eed53b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h17890b5fe3eed53b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17890b5fe3eed53b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h17890b5fe3eed53b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17890b5fe3eed53b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17890b5fe3eed53b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17890b5fe3eed53b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17890b5fe3eed53b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17890b5fe3eed53b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17890b5fe3eed53b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17890b5fe3eed53b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h17890b5fe3eed53b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17890b5fe3eed53b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h17890b5fe3eed53b_0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17890b5fe3eed53b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h17890b5fe3eed53b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17890b5fe3eed53b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h17890b5fe3eed53b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17890b5fe3eed53b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h17890b5fe3eed53b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17890b5fe3eed53b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17890b5fe3eed53b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17890b5fe3eed53b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h17890b5fe3eed53b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h17890b5fe3eed53b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h17890b5fe3eed53b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17890b5fe3eed53b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h17890b5fe3eed53b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h17890b5fe3eed53b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h17890b5fe3eed53b_0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17890b5fe3eed53b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h17890b5fe3eed53b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17890b5fe3eed53b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h17890b5fe3eed53b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17890b5fe3eed53b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h17890b5fe3eed53b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17890b5fe3eed53b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h17890b5fe3eed53b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17890b5fe3eed53b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h17890b5fe3eed53b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h17890b5fe3eed53b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h17890b5fe3eed53b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h17890b5fe3eed53b_0_2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h17890b5fe3eed53b_0_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h17890b5fe3eed53b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h17890b5fe3eed53b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7890b5fe3eed53b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h17890b5fe3eed53b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h17890b5fe3eed53b_0_3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h17890b5fe3eed53b_0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h17890b5fe3eed53b_0_3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h17890b5fe3eed53b_0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h17890b5fe3eed53b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h17890b5fe3eed53b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h17890b5fe3eed53b_0_3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h17890b5fe3eed53b_0_3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h17890b5fe3eed53b_0_3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h17890b5fe3eed53b_0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h17890b5fe3eed53b_0_4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h17890b5fe3eed53b_0_4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h17890b5fe3eed53b_0_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h17890b5fe3eed53b_0_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h17890b5fe3eed53b_0_4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h17890b5fe3eed53b_0_4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h17890b5fe3eed53b_0_4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h17890b5fe3eed53b_0_4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h17890b5fe3eed53b_0_4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h17890b5fe3eed53b_0_4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h17890b5fe3eed53b_0_4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h17890b5fe3eed53b_0_4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2"/>
          <p:cNvSpPr txBox="1"/>
          <p:nvPr>
            <p:ph type="ctrTitle"/>
          </p:nvPr>
        </p:nvSpPr>
        <p:spPr>
          <a:xfrm>
            <a:off x="739009" y="1764919"/>
            <a:ext cx="20200800" cy="48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216750" lIns="216750" spcFirstLastPara="1" rIns="216750" wrap="square" tIns="216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0"/>
              <a:buNone/>
              <a:defRPr sz="12300"/>
            </a:lvl9pPr>
          </a:lstStyle>
          <a:p/>
        </p:txBody>
      </p:sp>
      <p:sp>
        <p:nvSpPr>
          <p:cNvPr id="16" name="Google Shape;16;p42"/>
          <p:cNvSpPr txBox="1"/>
          <p:nvPr>
            <p:ph idx="1" type="subTitle"/>
          </p:nvPr>
        </p:nvSpPr>
        <p:spPr>
          <a:xfrm>
            <a:off x="738989" y="6717926"/>
            <a:ext cx="202008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7" name="Google Shape;17;p42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 txBox="1"/>
          <p:nvPr>
            <p:ph type="title"/>
          </p:nvPr>
        </p:nvSpPr>
        <p:spPr>
          <a:xfrm>
            <a:off x="738989" y="5098311"/>
            <a:ext cx="20200800" cy="19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738989" y="1054874"/>
            <a:ext cx="202008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738989" y="2731793"/>
            <a:ext cx="20200800" cy="8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indent="-501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Char char="●"/>
              <a:defRPr/>
            </a:lvl1pPr>
            <a:lvl2pPr indent="-438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2pPr>
            <a:lvl3pPr indent="-438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3pPr>
            <a:lvl4pPr indent="-438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/>
            </a:lvl4pPr>
            <a:lvl5pPr indent="-438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5pPr>
            <a:lvl6pPr indent="-438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6pPr>
            <a:lvl7pPr indent="-438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/>
            </a:lvl7pPr>
            <a:lvl8pPr indent="-438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8pPr>
            <a:lvl9pPr indent="-438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5"/>
          <p:cNvSpPr txBox="1"/>
          <p:nvPr>
            <p:ph type="title"/>
          </p:nvPr>
        </p:nvSpPr>
        <p:spPr>
          <a:xfrm>
            <a:off x="738989" y="1054874"/>
            <a:ext cx="202008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" type="body"/>
          </p:nvPr>
        </p:nvSpPr>
        <p:spPr>
          <a:xfrm>
            <a:off x="738989" y="2731793"/>
            <a:ext cx="9483000" cy="8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indent="-438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 sz="3300"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8" name="Google Shape;28;p45"/>
          <p:cNvSpPr txBox="1"/>
          <p:nvPr>
            <p:ph idx="2" type="body"/>
          </p:nvPr>
        </p:nvSpPr>
        <p:spPr>
          <a:xfrm>
            <a:off x="11456815" y="2731793"/>
            <a:ext cx="9483000" cy="8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indent="-438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 sz="3300"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9" name="Google Shape;29;p45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/>
          <p:nvPr>
            <p:ph type="title"/>
          </p:nvPr>
        </p:nvSpPr>
        <p:spPr>
          <a:xfrm>
            <a:off x="738989" y="1054874"/>
            <a:ext cx="202008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738989" y="1316978"/>
            <a:ext cx="6657300" cy="17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216750" lIns="216750" spcFirstLastPara="1" rIns="216750" wrap="square" tIns="2167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738989" y="3293867"/>
            <a:ext cx="6657300" cy="7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6" name="Google Shape;36;p47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/>
          <p:nvPr>
            <p:ph type="title"/>
          </p:nvPr>
        </p:nvSpPr>
        <p:spPr>
          <a:xfrm>
            <a:off x="1162301" y="1067022"/>
            <a:ext cx="15096900" cy="9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400"/>
              <a:buNone/>
              <a:defRPr sz="11400"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/>
          <p:nvPr/>
        </p:nvSpPr>
        <p:spPr>
          <a:xfrm>
            <a:off x="10839450" y="-296"/>
            <a:ext cx="10839600" cy="121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16750" lIns="216750" spcFirstLastPara="1" rIns="216750" wrap="square" tIns="216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9"/>
          <p:cNvSpPr txBox="1"/>
          <p:nvPr>
            <p:ph type="title"/>
          </p:nvPr>
        </p:nvSpPr>
        <p:spPr>
          <a:xfrm>
            <a:off x="629456" y="2923081"/>
            <a:ext cx="9590400" cy="3513600"/>
          </a:xfrm>
          <a:prstGeom prst="rect">
            <a:avLst/>
          </a:prstGeom>
          <a:noFill/>
          <a:ln>
            <a:noFill/>
          </a:ln>
        </p:spPr>
        <p:txBody>
          <a:bodyPr anchorCtr="0" anchor="b" bIns="216750" lIns="216750" spcFirstLastPara="1" rIns="216750" wrap="square" tIns="216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43" name="Google Shape;43;p49"/>
          <p:cNvSpPr txBox="1"/>
          <p:nvPr>
            <p:ph idx="1" type="subTitle"/>
          </p:nvPr>
        </p:nvSpPr>
        <p:spPr>
          <a:xfrm>
            <a:off x="629456" y="6644326"/>
            <a:ext cx="95904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4" name="Google Shape;44;p49"/>
          <p:cNvSpPr txBox="1"/>
          <p:nvPr>
            <p:ph idx="2" type="body"/>
          </p:nvPr>
        </p:nvSpPr>
        <p:spPr>
          <a:xfrm>
            <a:off x="11710731" y="1716326"/>
            <a:ext cx="9096900" cy="87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-501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Char char="●"/>
              <a:defRPr/>
            </a:lvl1pPr>
            <a:lvl2pPr indent="-438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2pPr>
            <a:lvl3pPr indent="-438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3pPr>
            <a:lvl4pPr indent="-438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/>
            </a:lvl4pPr>
            <a:lvl5pPr indent="-438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5pPr>
            <a:lvl6pPr indent="-438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6pPr>
            <a:lvl7pPr indent="-438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/>
            </a:lvl7pPr>
            <a:lvl8pPr indent="-438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8pPr>
            <a:lvl9pPr indent="-438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idx="1" type="body"/>
          </p:nvPr>
        </p:nvSpPr>
        <p:spPr>
          <a:xfrm>
            <a:off x="738989" y="10028030"/>
            <a:ext cx="142221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</a:lstStyle>
          <a:p/>
        </p:txBody>
      </p:sp>
      <p:sp>
        <p:nvSpPr>
          <p:cNvPr id="48" name="Google Shape;48;p50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hasCustomPrompt="1" type="title"/>
          </p:nvPr>
        </p:nvSpPr>
        <p:spPr>
          <a:xfrm>
            <a:off x="738989" y="2621926"/>
            <a:ext cx="20200800" cy="46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216750" lIns="216750" spcFirstLastPara="1" rIns="216750" wrap="square" tIns="216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400"/>
              <a:buNone/>
              <a:defRPr sz="28400"/>
            </a:lvl9pPr>
          </a:lstStyle>
          <a:p>
            <a:r>
              <a:t>xx%</a:t>
            </a:r>
          </a:p>
        </p:txBody>
      </p:sp>
      <p:sp>
        <p:nvSpPr>
          <p:cNvPr id="51" name="Google Shape;51;p51"/>
          <p:cNvSpPr txBox="1"/>
          <p:nvPr>
            <p:ph idx="1" type="body"/>
          </p:nvPr>
        </p:nvSpPr>
        <p:spPr>
          <a:xfrm>
            <a:off x="738989" y="7471941"/>
            <a:ext cx="20200800" cy="30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indent="-5016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Char char="●"/>
              <a:defRPr/>
            </a:lvl1pPr>
            <a:lvl2pPr indent="-4381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2pPr>
            <a:lvl3pPr indent="-4381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3pPr>
            <a:lvl4pPr indent="-4381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/>
            </a:lvl4pPr>
            <a:lvl5pPr indent="-4381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5pPr>
            <a:lvl6pPr indent="-4381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6pPr>
            <a:lvl7pPr indent="-4381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●"/>
              <a:defRPr/>
            </a:lvl7pPr>
            <a:lvl8pPr indent="-4381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○"/>
              <a:defRPr/>
            </a:lvl8pPr>
            <a:lvl9pPr indent="-4381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■"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type="title"/>
          </p:nvPr>
        </p:nvSpPr>
        <p:spPr>
          <a:xfrm>
            <a:off x="738989" y="1054874"/>
            <a:ext cx="202008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pc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738989" y="2731793"/>
            <a:ext cx="20200800" cy="8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0" lIns="216750" spcFirstLastPara="1" rIns="216750" wrap="square" tIns="216750">
            <a:normAutofit/>
          </a:bodyPr>
          <a:lstStyle>
            <a:lvl1pPr indent="-501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Arial"/>
              <a:buChar char="●"/>
              <a:defRPr b="0" i="0" spc="0" sz="4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8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Char char="○"/>
              <a:defRPr b="0" i="0" spc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81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Char char="■"/>
              <a:defRPr b="0" i="0" spc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381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Char char="●"/>
              <a:defRPr b="0" i="0" spc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381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Char char="○"/>
              <a:defRPr b="0" i="0" spc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81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Char char="■"/>
              <a:defRPr b="0" i="0" spc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81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Char char="●"/>
              <a:defRPr b="0" i="0" spc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81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Char char="○"/>
              <a:defRPr b="0" i="0" spc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81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Char char="■"/>
              <a:defRPr b="0" i="0" spc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2" type="sldNum"/>
          </p:nvPr>
        </p:nvSpPr>
        <p:spPr>
          <a:xfrm>
            <a:off x="20086785" y="11053551"/>
            <a:ext cx="13008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750" lIns="216750" spcFirstLastPara="1" rIns="216750" wrap="square" tIns="2167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/>
        </p:nvSpPr>
        <p:spPr>
          <a:xfrm>
            <a:off x="676656" y="41605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600" sz="2400" u="none" cap="none" strike="noStrike">
                <a:solidFill>
                  <a:srgbClr val="A9B8F0"/>
                </a:solidFill>
                <a:latin typeface="Arial"/>
                <a:ea typeface="Arial"/>
                <a:cs typeface="Arial"/>
                <a:sym typeface="Arial"/>
              </a:rPr>
              <a:t>SESSION 01</a:t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676656" y="4754880"/>
            <a:ext cx="13258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5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LINQ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76656" y="7086600"/>
            <a:ext cx="1783080" cy="7772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676656" y="7498079"/>
            <a:ext cx="1325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3000" u="none" cap="none" strike="noStrike">
                <a:solidFill>
                  <a:srgbClr val="DCE3FA"/>
                </a:solidFill>
                <a:latin typeface="Arial"/>
                <a:ea typeface="Arial"/>
                <a:cs typeface="Arial"/>
                <a:sym typeface="Arial"/>
              </a:rPr>
              <a:t>Language Integrated Query</a:t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676656" y="112471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800" u="none" cap="none" strike="noStrike">
                <a:solidFill>
                  <a:srgbClr val="DCE3FA"/>
                </a:solidFill>
                <a:latin typeface="Arial"/>
                <a:ea typeface="Arial"/>
                <a:cs typeface="Arial"/>
                <a:sym typeface="Arial"/>
              </a:rPr>
              <a:t>.NET Track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Session Agenda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Session 01</a:t>
            </a:r>
            <a:endParaRPr/>
          </a:p>
        </p:txBody>
      </p:sp>
      <p:grpSp>
        <p:nvGrpSpPr>
          <p:cNvPr id="72" name="Google Shape;72;p4"/>
          <p:cNvGrpSpPr/>
          <p:nvPr/>
        </p:nvGrpSpPr>
        <p:grpSpPr>
          <a:xfrm>
            <a:off x="896112" y="2073223"/>
            <a:ext cx="6455664" cy="2148840"/>
            <a:chOff x="896112" y="2167128"/>
            <a:chExt cx="6455664" cy="2148840"/>
          </a:xfrm>
        </p:grpSpPr>
        <p:sp>
          <p:nvSpPr>
            <p:cNvPr id="73" name="Google Shape;73;p4"/>
            <p:cNvSpPr/>
            <p:nvPr/>
          </p:nvSpPr>
          <p:spPr>
            <a:xfrm>
              <a:off x="896112" y="2167128"/>
              <a:ext cx="6455664" cy="214884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2700">
              <a:solidFill>
                <a:srgbClr val="E6E9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896112" y="2167128"/>
              <a:ext cx="82296" cy="2148840"/>
            </a:xfrm>
            <a:prstGeom prst="rect">
              <a:avLst/>
            </a:prstGeom>
            <a:solidFill>
              <a:srgbClr val="102C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 txBox="1"/>
            <p:nvPr/>
          </p:nvSpPr>
          <p:spPr>
            <a:xfrm>
              <a:off x="1225295" y="2441448"/>
              <a:ext cx="10515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4000" u="none" cap="none" strike="noStrike">
                  <a:solidFill>
                    <a:srgbClr val="102C89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76" name="Google Shape;76;p4"/>
            <p:cNvSpPr txBox="1"/>
            <p:nvPr/>
          </p:nvSpPr>
          <p:spPr>
            <a:xfrm>
              <a:off x="2359152" y="2441448"/>
              <a:ext cx="4718304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2600" u="none" cap="none" strike="noStrike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var, dynamic</a:t>
              </a:r>
              <a:endParaRPr/>
            </a:p>
          </p:txBody>
        </p:sp>
        <p:sp>
          <p:nvSpPr>
            <p:cNvPr id="77" name="Google Shape;77;p4"/>
            <p:cNvSpPr txBox="1"/>
            <p:nvPr/>
          </p:nvSpPr>
          <p:spPr>
            <a:xfrm>
              <a:off x="2359152" y="3264408"/>
              <a:ext cx="471830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1800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Implicit, runtime &amp; base typing</a:t>
              </a:r>
              <a:endParaRPr/>
            </a:p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1800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Comparison &amp; best practices</a:t>
              </a:r>
              <a:endParaRPr/>
            </a:p>
          </p:txBody>
        </p:sp>
      </p:grpSp>
      <p:grpSp>
        <p:nvGrpSpPr>
          <p:cNvPr id="78" name="Google Shape;78;p4"/>
          <p:cNvGrpSpPr/>
          <p:nvPr/>
        </p:nvGrpSpPr>
        <p:grpSpPr>
          <a:xfrm>
            <a:off x="7644383" y="2073223"/>
            <a:ext cx="6455664" cy="2148840"/>
            <a:chOff x="7644383" y="2167128"/>
            <a:chExt cx="6455664" cy="2148840"/>
          </a:xfrm>
        </p:grpSpPr>
        <p:sp>
          <p:nvSpPr>
            <p:cNvPr id="79" name="Google Shape;79;p4"/>
            <p:cNvSpPr/>
            <p:nvPr/>
          </p:nvSpPr>
          <p:spPr>
            <a:xfrm>
              <a:off x="7644383" y="2167128"/>
              <a:ext cx="6455664" cy="214884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2700">
              <a:solidFill>
                <a:srgbClr val="E6E9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7644383" y="2167128"/>
              <a:ext cx="82296" cy="2148840"/>
            </a:xfrm>
            <a:prstGeom prst="rect">
              <a:avLst/>
            </a:prstGeom>
            <a:solidFill>
              <a:srgbClr val="102C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 txBox="1"/>
            <p:nvPr/>
          </p:nvSpPr>
          <p:spPr>
            <a:xfrm>
              <a:off x="7973567" y="2441448"/>
              <a:ext cx="10515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4000" u="none" cap="none" strike="noStrike">
                  <a:solidFill>
                    <a:srgbClr val="102C89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  <p:sp>
          <p:nvSpPr>
            <p:cNvPr id="82" name="Google Shape;82;p4"/>
            <p:cNvSpPr txBox="1"/>
            <p:nvPr/>
          </p:nvSpPr>
          <p:spPr>
            <a:xfrm>
              <a:off x="9107424" y="2441448"/>
              <a:ext cx="4718304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B2A4A"/>
                  </a:solidFill>
                </a:rPr>
                <a:t>Anonymous Type</a:t>
              </a:r>
              <a:endParaRPr/>
            </a:p>
          </p:txBody>
        </p:sp>
        <p:sp>
          <p:nvSpPr>
            <p:cNvPr id="83" name="Google Shape;83;p4"/>
            <p:cNvSpPr txBox="1"/>
            <p:nvPr/>
          </p:nvSpPr>
          <p:spPr>
            <a:xfrm>
              <a:off x="9107424" y="3264408"/>
              <a:ext cx="471830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5F6B7A"/>
                  </a:solidFill>
                </a:rPr>
                <a:t>a Type Without name</a:t>
              </a:r>
              <a:endParaRPr/>
            </a:p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" name="Google Shape;84;p4"/>
          <p:cNvGrpSpPr/>
          <p:nvPr/>
        </p:nvGrpSpPr>
        <p:grpSpPr>
          <a:xfrm>
            <a:off x="896106" y="4586210"/>
            <a:ext cx="6455664" cy="2148840"/>
            <a:chOff x="14392656" y="2167128"/>
            <a:chExt cx="6455664" cy="2148840"/>
          </a:xfrm>
        </p:grpSpPr>
        <p:sp>
          <p:nvSpPr>
            <p:cNvPr id="85" name="Google Shape;85;p4"/>
            <p:cNvSpPr/>
            <p:nvPr/>
          </p:nvSpPr>
          <p:spPr>
            <a:xfrm>
              <a:off x="14392656" y="2167128"/>
              <a:ext cx="6455664" cy="214884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2700">
              <a:solidFill>
                <a:srgbClr val="E6E9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14392656" y="2167128"/>
              <a:ext cx="82296" cy="2148840"/>
            </a:xfrm>
            <a:prstGeom prst="rect">
              <a:avLst/>
            </a:prstGeom>
            <a:solidFill>
              <a:srgbClr val="102C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 txBox="1"/>
            <p:nvPr/>
          </p:nvSpPr>
          <p:spPr>
            <a:xfrm>
              <a:off x="14721840" y="2441448"/>
              <a:ext cx="10515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4000" u="none" cap="none" strike="noStrike">
                  <a:solidFill>
                    <a:srgbClr val="102C89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 sz="4000">
                  <a:solidFill>
                    <a:srgbClr val="102C89"/>
                  </a:solidFill>
                </a:rPr>
                <a:t>4</a:t>
              </a:r>
              <a:endParaRPr/>
            </a:p>
          </p:txBody>
        </p:sp>
        <p:sp>
          <p:nvSpPr>
            <p:cNvPr id="88" name="Google Shape;88;p4"/>
            <p:cNvSpPr txBox="1"/>
            <p:nvPr/>
          </p:nvSpPr>
          <p:spPr>
            <a:xfrm>
              <a:off x="15855696" y="2441448"/>
              <a:ext cx="4718304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2600" u="none" cap="none" strike="noStrike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Deferred vs Immediate</a:t>
              </a:r>
              <a:endParaRPr/>
            </a:p>
          </p:txBody>
        </p:sp>
        <p:sp>
          <p:nvSpPr>
            <p:cNvPr id="89" name="Google Shape;89;p4"/>
            <p:cNvSpPr txBox="1"/>
            <p:nvPr/>
          </p:nvSpPr>
          <p:spPr>
            <a:xfrm>
              <a:off x="15855696" y="3264408"/>
              <a:ext cx="471830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1800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When queries actually execute</a:t>
              </a:r>
              <a:endParaRPr/>
            </a:p>
          </p:txBody>
        </p:sp>
      </p:grpSp>
      <p:grpSp>
        <p:nvGrpSpPr>
          <p:cNvPr id="90" name="Google Shape;90;p4"/>
          <p:cNvGrpSpPr/>
          <p:nvPr/>
        </p:nvGrpSpPr>
        <p:grpSpPr>
          <a:xfrm>
            <a:off x="7644387" y="4586213"/>
            <a:ext cx="6455664" cy="2148840"/>
            <a:chOff x="896112" y="4663440"/>
            <a:chExt cx="6455664" cy="2148840"/>
          </a:xfrm>
        </p:grpSpPr>
        <p:sp>
          <p:nvSpPr>
            <p:cNvPr id="91" name="Google Shape;91;p4"/>
            <p:cNvSpPr/>
            <p:nvPr/>
          </p:nvSpPr>
          <p:spPr>
            <a:xfrm>
              <a:off x="896112" y="4663440"/>
              <a:ext cx="6455664" cy="214884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2700">
              <a:solidFill>
                <a:srgbClr val="E6E9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896112" y="4663440"/>
              <a:ext cx="82296" cy="2148840"/>
            </a:xfrm>
            <a:prstGeom prst="rect">
              <a:avLst/>
            </a:prstGeom>
            <a:solidFill>
              <a:srgbClr val="102C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 txBox="1"/>
            <p:nvPr/>
          </p:nvSpPr>
          <p:spPr>
            <a:xfrm>
              <a:off x="1225295" y="4937759"/>
              <a:ext cx="10515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4000" u="none" cap="none" strike="noStrike">
                  <a:solidFill>
                    <a:srgbClr val="102C89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 sz="4000">
                  <a:solidFill>
                    <a:srgbClr val="102C89"/>
                  </a:solidFill>
                </a:rPr>
                <a:t>5</a:t>
              </a:r>
              <a:endParaRPr/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2359152" y="4937759"/>
              <a:ext cx="4718304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2600" u="none" cap="none" strike="noStrike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Filtering</a:t>
              </a:r>
              <a:endParaRPr/>
            </a:p>
          </p:txBody>
        </p:sp>
        <p:sp>
          <p:nvSpPr>
            <p:cNvPr id="95" name="Google Shape;95;p4"/>
            <p:cNvSpPr txBox="1"/>
            <p:nvPr/>
          </p:nvSpPr>
          <p:spPr>
            <a:xfrm>
              <a:off x="2359152" y="5760720"/>
              <a:ext cx="471830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1800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Where, OfType</a:t>
              </a:r>
              <a:endParaRPr/>
            </a:p>
          </p:txBody>
        </p:sp>
      </p:grpSp>
      <p:grpSp>
        <p:nvGrpSpPr>
          <p:cNvPr id="96" name="Google Shape;96;p4"/>
          <p:cNvGrpSpPr/>
          <p:nvPr/>
        </p:nvGrpSpPr>
        <p:grpSpPr>
          <a:xfrm>
            <a:off x="14392658" y="4586213"/>
            <a:ext cx="6455664" cy="2148840"/>
            <a:chOff x="7644383" y="4663440"/>
            <a:chExt cx="6455664" cy="2148840"/>
          </a:xfrm>
        </p:grpSpPr>
        <p:sp>
          <p:nvSpPr>
            <p:cNvPr id="97" name="Google Shape;97;p4"/>
            <p:cNvSpPr/>
            <p:nvPr/>
          </p:nvSpPr>
          <p:spPr>
            <a:xfrm>
              <a:off x="7644383" y="4663440"/>
              <a:ext cx="6455664" cy="214884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2700">
              <a:solidFill>
                <a:srgbClr val="E6E9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7644383" y="4663440"/>
              <a:ext cx="82296" cy="2148840"/>
            </a:xfrm>
            <a:prstGeom prst="rect">
              <a:avLst/>
            </a:prstGeom>
            <a:solidFill>
              <a:srgbClr val="102C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"/>
            <p:cNvSpPr txBox="1"/>
            <p:nvPr/>
          </p:nvSpPr>
          <p:spPr>
            <a:xfrm>
              <a:off x="7973567" y="4937759"/>
              <a:ext cx="10515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4000" u="none" cap="none" strike="noStrike">
                  <a:solidFill>
                    <a:srgbClr val="102C89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 sz="4000">
                  <a:solidFill>
                    <a:srgbClr val="102C89"/>
                  </a:solidFill>
                </a:rPr>
                <a:t>6</a:t>
              </a:r>
              <a:endParaRPr/>
            </a:p>
          </p:txBody>
        </p:sp>
        <p:sp>
          <p:nvSpPr>
            <p:cNvPr id="100" name="Google Shape;100;p4"/>
            <p:cNvSpPr txBox="1"/>
            <p:nvPr/>
          </p:nvSpPr>
          <p:spPr>
            <a:xfrm>
              <a:off x="9107424" y="4937759"/>
              <a:ext cx="4718304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2600" u="none" cap="none" strike="noStrike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Projection</a:t>
              </a:r>
              <a:endParaRPr/>
            </a:p>
          </p:txBody>
        </p:sp>
        <p:sp>
          <p:nvSpPr>
            <p:cNvPr id="101" name="Google Shape;101;p4"/>
            <p:cNvSpPr txBox="1"/>
            <p:nvPr/>
          </p:nvSpPr>
          <p:spPr>
            <a:xfrm>
              <a:off x="9107424" y="5760720"/>
              <a:ext cx="471830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1800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Select &amp; SelectMany</a:t>
              </a:r>
              <a:endParaRPr/>
            </a:p>
          </p:txBody>
        </p:sp>
      </p:grpSp>
      <p:grpSp>
        <p:nvGrpSpPr>
          <p:cNvPr id="102" name="Google Shape;102;p4"/>
          <p:cNvGrpSpPr/>
          <p:nvPr/>
        </p:nvGrpSpPr>
        <p:grpSpPr>
          <a:xfrm>
            <a:off x="896106" y="6973772"/>
            <a:ext cx="6455664" cy="2148840"/>
            <a:chOff x="14392656" y="4663440"/>
            <a:chExt cx="6455664" cy="2148840"/>
          </a:xfrm>
        </p:grpSpPr>
        <p:sp>
          <p:nvSpPr>
            <p:cNvPr id="103" name="Google Shape;103;p4"/>
            <p:cNvSpPr/>
            <p:nvPr/>
          </p:nvSpPr>
          <p:spPr>
            <a:xfrm>
              <a:off x="14392656" y="4663440"/>
              <a:ext cx="6455664" cy="214884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2700">
              <a:solidFill>
                <a:srgbClr val="E6E9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14392656" y="4663440"/>
              <a:ext cx="82296" cy="2148840"/>
            </a:xfrm>
            <a:prstGeom prst="rect">
              <a:avLst/>
            </a:prstGeom>
            <a:solidFill>
              <a:srgbClr val="102C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 txBox="1"/>
            <p:nvPr/>
          </p:nvSpPr>
          <p:spPr>
            <a:xfrm>
              <a:off x="14721840" y="4937759"/>
              <a:ext cx="10515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4000" u="none" cap="none" strike="noStrike">
                  <a:solidFill>
                    <a:srgbClr val="102C89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 sz="4000">
                  <a:solidFill>
                    <a:srgbClr val="102C89"/>
                  </a:solidFill>
                </a:rPr>
                <a:t>7</a:t>
              </a:r>
              <a:endParaRPr/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15855696" y="4937759"/>
              <a:ext cx="4718304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2600" u="none" cap="none" strike="noStrike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Ordering</a:t>
              </a:r>
              <a:endParaRPr/>
            </a:p>
          </p:txBody>
        </p:sp>
        <p:sp>
          <p:nvSpPr>
            <p:cNvPr id="107" name="Google Shape;107;p4"/>
            <p:cNvSpPr txBox="1"/>
            <p:nvPr/>
          </p:nvSpPr>
          <p:spPr>
            <a:xfrm>
              <a:off x="15855696" y="5760720"/>
              <a:ext cx="4718304" cy="868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1800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OrderBy, ThenBy, Reverse</a:t>
              </a:r>
              <a:endParaRPr/>
            </a:p>
          </p:txBody>
        </p:sp>
      </p:grpSp>
      <p:sp>
        <p:nvSpPr>
          <p:cNvPr id="108" name="Google Shape;108;p4"/>
          <p:cNvSpPr/>
          <p:nvPr/>
        </p:nvSpPr>
        <p:spPr>
          <a:xfrm>
            <a:off x="896112" y="9361317"/>
            <a:ext cx="19952100" cy="1371600"/>
          </a:xfrm>
          <a:prstGeom prst="roundRect">
            <a:avLst>
              <a:gd fmla="val 8000" name="adj"/>
            </a:avLst>
          </a:prstGeom>
          <a:solidFill>
            <a:srgbClr val="F0F3FC"/>
          </a:solidFill>
          <a:ln cap="flat" cmpd="sng" w="12700">
            <a:solidFill>
              <a:srgbClr val="E6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96112" y="9344638"/>
            <a:ext cx="82200" cy="13716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225295" y="9618958"/>
            <a:ext cx="1051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4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4000">
                <a:solidFill>
                  <a:srgbClr val="102C89"/>
                </a:solidFill>
              </a:rPr>
              <a:t>8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2359152" y="9635637"/>
            <a:ext cx="18214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6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Mini Exercises </a:t>
            </a:r>
            <a:endParaRPr/>
          </a:p>
        </p:txBody>
      </p:sp>
      <p:grpSp>
        <p:nvGrpSpPr>
          <p:cNvPr id="112" name="Google Shape;112;p4"/>
          <p:cNvGrpSpPr/>
          <p:nvPr/>
        </p:nvGrpSpPr>
        <p:grpSpPr>
          <a:xfrm>
            <a:off x="14392658" y="2073198"/>
            <a:ext cx="6455700" cy="2148900"/>
            <a:chOff x="7644383" y="2167128"/>
            <a:chExt cx="6455700" cy="2148900"/>
          </a:xfrm>
        </p:grpSpPr>
        <p:sp>
          <p:nvSpPr>
            <p:cNvPr id="113" name="Google Shape;113;p4"/>
            <p:cNvSpPr/>
            <p:nvPr/>
          </p:nvSpPr>
          <p:spPr>
            <a:xfrm>
              <a:off x="7644383" y="2167128"/>
              <a:ext cx="6455700" cy="21489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2700">
              <a:solidFill>
                <a:srgbClr val="E6E9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7644383" y="2167128"/>
              <a:ext cx="82200" cy="2148900"/>
            </a:xfrm>
            <a:prstGeom prst="rect">
              <a:avLst/>
            </a:prstGeom>
            <a:solidFill>
              <a:srgbClr val="102C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7973567" y="2441448"/>
              <a:ext cx="1051500" cy="7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4000" u="none" cap="none" strike="noStrike">
                  <a:solidFill>
                    <a:srgbClr val="102C89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 sz="4000">
                  <a:solidFill>
                    <a:srgbClr val="102C89"/>
                  </a:solidFill>
                </a:rPr>
                <a:t>3</a:t>
              </a:r>
              <a:endParaRPr/>
            </a:p>
          </p:txBody>
        </p:sp>
        <p:sp>
          <p:nvSpPr>
            <p:cNvPr id="116" name="Google Shape;116;p4"/>
            <p:cNvSpPr txBox="1"/>
            <p:nvPr/>
          </p:nvSpPr>
          <p:spPr>
            <a:xfrm>
              <a:off x="9107424" y="2441448"/>
              <a:ext cx="4718400" cy="7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pc="0" sz="2600" u="none" cap="none" strike="noStrike">
                  <a:solidFill>
                    <a:srgbClr val="1B2A4A"/>
                  </a:solidFill>
                  <a:latin typeface="Arial"/>
                  <a:ea typeface="Arial"/>
                  <a:cs typeface="Arial"/>
                  <a:sym typeface="Arial"/>
                </a:rPr>
                <a:t>LINQ Foundations</a:t>
              </a:r>
              <a:endParaRPr/>
            </a:p>
          </p:txBody>
        </p:sp>
        <p:sp>
          <p:nvSpPr>
            <p:cNvPr id="117" name="Google Shape;117;p4"/>
            <p:cNvSpPr txBox="1"/>
            <p:nvPr/>
          </p:nvSpPr>
          <p:spPr>
            <a:xfrm>
              <a:off x="9107424" y="3264408"/>
              <a:ext cx="4718400" cy="8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1800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What &amp; Why LINQ</a:t>
              </a:r>
              <a:endParaRPr/>
            </a:p>
            <a:p>
              <a:pPr indent="0" lvl="0" marL="0" marR="0" rtl="0" algn="l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896112" y="4332224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0" sz="2200" u="none" cap="none" strike="noStrike">
                <a:solidFill>
                  <a:srgbClr val="3F56C8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896112" y="5063744"/>
            <a:ext cx="12344400" cy="1137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8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var, dynamic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96112" y="6613144"/>
            <a:ext cx="1600200" cy="77724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896112" y="7106920"/>
            <a:ext cx="1207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8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Understanding implicit, runtime, and base typing in C#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3807440" y="3734426"/>
            <a:ext cx="6282751" cy="4719676"/>
          </a:xfrm>
          <a:custGeom>
            <a:rect b="b" l="l" r="r" t="t"/>
            <a:pathLst>
              <a:path extrusionOk="0" h="4059936" w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C5D9FB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4095095" y="3975726"/>
            <a:ext cx="5705856" cy="4242816"/>
          </a:xfrm>
          <a:custGeom>
            <a:rect b="b" l="l" r="r" t="t"/>
            <a:pathLst>
              <a:path extrusionOk="0" h="2340864" w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cap="flat" cmpd="sng" w="539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pc="0" sz="12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pc="0" sz="1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var Keyword in C#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96112" y="1848038"/>
            <a:ext cx="19888200" cy="1475100"/>
          </a:xfrm>
          <a:prstGeom prst="roundRect">
            <a:avLst>
              <a:gd fmla="val 10330" name="adj"/>
            </a:avLst>
          </a:prstGeom>
          <a:solidFill>
            <a:srgbClr val="F0F3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96112" y="1848038"/>
            <a:ext cx="114300" cy="14751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429512" y="2095688"/>
            <a:ext cx="190119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300" u="none" cap="none" strike="noStrike">
                <a:solidFill>
                  <a:srgbClr val="152A8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allows the compiler to </a:t>
            </a:r>
            <a:r>
              <a:rPr b="1" lang="en-US" sz="2550">
                <a:solidFill>
                  <a:srgbClr val="1F2937"/>
                </a:solidFill>
              </a:rPr>
              <a:t>detect </a:t>
            </a:r>
            <a:r>
              <a:rPr b="1" i="0" lang="en-US" spc="0" sz="2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type</a:t>
            </a:r>
            <a:r>
              <a:rPr b="0" i="0" lang="en-US" spc="0" sz="2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of a variable at compile time based on the assigned value. The type is determined once and </a:t>
            </a:r>
            <a:r>
              <a:rPr b="1" i="0" lang="en-US" spc="0" sz="2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never changes</a:t>
            </a:r>
            <a:r>
              <a:rPr b="0" i="0" lang="en-US" spc="0" sz="2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896112" y="3668176"/>
            <a:ext cx="123168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55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96100" y="4382734"/>
            <a:ext cx="12316800" cy="4761300"/>
          </a:xfrm>
          <a:prstGeom prst="roundRect">
            <a:avLst>
              <a:gd fmla="val 4255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200912" y="4611343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429512" y="4611343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658112" y="4611343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1239012" y="4954243"/>
            <a:ext cx="116310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Compiler infers the type from the right-hand side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0" i="0" lang="en-US" spc="0" sz="21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           </a:t>
            </a:r>
            <a:r>
              <a:rPr b="0" i="0" lang="en-US" spc="0" sz="21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Compiler sees int → x is int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name = </a:t>
            </a:r>
            <a:r>
              <a:rPr b="0" i="0" lang="en-US" spc="0" sz="21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"Ahmed"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   </a:t>
            </a:r>
            <a:r>
              <a:rPr b="0" i="0" lang="en-US" spc="0" sz="21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Compiler sees string → name is string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price = </a:t>
            </a:r>
            <a:r>
              <a:rPr b="0" i="0" lang="en-US" spc="0" sz="21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12.5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     </a:t>
            </a:r>
            <a:r>
              <a:rPr b="0" i="0" lang="en-US" spc="0" sz="21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Compiler sees double → price is double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These are EXACTLY equivalent: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list1 = 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21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 list2 = 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21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var Rules and Restrictions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dynamic,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015997" y="1906256"/>
            <a:ext cx="92127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3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📋 Rules for Using var</a:t>
            </a:r>
            <a:endParaRPr sz="3000"/>
          </a:p>
        </p:txBody>
      </p:sp>
      <p:sp>
        <p:nvSpPr>
          <p:cNvPr id="155" name="Google Shape;155;p7"/>
          <p:cNvSpPr/>
          <p:nvPr/>
        </p:nvSpPr>
        <p:spPr>
          <a:xfrm>
            <a:off x="896100" y="2688900"/>
            <a:ext cx="13696200" cy="987000"/>
          </a:xfrm>
          <a:prstGeom prst="roundRect">
            <a:avLst>
              <a:gd fmla="val 21739" name="adj"/>
            </a:avLst>
          </a:prstGeom>
          <a:solidFill>
            <a:srgbClr val="FFFFFF"/>
          </a:solidFill>
          <a:ln cap="flat" cmpd="sng" w="17900">
            <a:solidFill>
              <a:srgbClr val="E6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25" lIns="128675" spcFirstLastPara="1" rIns="128675" wrap="square" tIns="6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1217864" y="2924861"/>
            <a:ext cx="13053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674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✅ Must be initialized at declaration (compiler needs to see the type)</a:t>
            </a:r>
            <a:endParaRPr sz="1971"/>
          </a:p>
        </p:txBody>
      </p:sp>
      <p:sp>
        <p:nvSpPr>
          <p:cNvPr id="157" name="Google Shape;157;p7"/>
          <p:cNvSpPr/>
          <p:nvPr/>
        </p:nvSpPr>
        <p:spPr>
          <a:xfrm>
            <a:off x="896100" y="3847252"/>
            <a:ext cx="13696200" cy="999900"/>
          </a:xfrm>
          <a:prstGeom prst="roundRect">
            <a:avLst>
              <a:gd fmla="val 21454" name="adj"/>
            </a:avLst>
          </a:prstGeom>
          <a:solidFill>
            <a:srgbClr val="FFFFFF"/>
          </a:solidFill>
          <a:ln cap="flat" cmpd="sng" w="17900">
            <a:solidFill>
              <a:srgbClr val="E6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25" lIns="128675" spcFirstLastPara="1" rIns="128675" wrap="square" tIns="6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1217864" y="4083212"/>
            <a:ext cx="13053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674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✅ Cannot be </a:t>
            </a:r>
            <a:r>
              <a:rPr b="0" i="0" lang="en-US" spc="0" sz="2463" u="none" cap="none" strike="noStrike">
                <a:solidFill>
                  <a:srgbClr val="152A85"/>
                </a:solidFill>
                <a:highlight>
                  <a:srgbClr val="EEF1FA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pc="0" sz="2674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74">
                <a:solidFill>
                  <a:srgbClr val="1F2937"/>
                </a:solidFill>
              </a:rPr>
              <a:t>at </a:t>
            </a:r>
            <a:r>
              <a:rPr lang="en-US" sz="2674">
                <a:solidFill>
                  <a:srgbClr val="1F2937"/>
                </a:solidFill>
              </a:rPr>
              <a:t>initialization</a:t>
            </a:r>
            <a:r>
              <a:rPr lang="en-US" sz="2674">
                <a:solidFill>
                  <a:srgbClr val="1F2937"/>
                </a:solidFill>
              </a:rPr>
              <a:t> </a:t>
            </a:r>
            <a:endParaRPr sz="1971"/>
          </a:p>
        </p:txBody>
      </p:sp>
      <p:sp>
        <p:nvSpPr>
          <p:cNvPr id="159" name="Google Shape;159;p7"/>
          <p:cNvSpPr/>
          <p:nvPr/>
        </p:nvSpPr>
        <p:spPr>
          <a:xfrm>
            <a:off x="896100" y="5018673"/>
            <a:ext cx="13696200" cy="987000"/>
          </a:xfrm>
          <a:prstGeom prst="roundRect">
            <a:avLst>
              <a:gd fmla="val 21739" name="adj"/>
            </a:avLst>
          </a:prstGeom>
          <a:solidFill>
            <a:srgbClr val="FFFFFF"/>
          </a:solidFill>
          <a:ln cap="flat" cmpd="sng" w="17900">
            <a:solidFill>
              <a:srgbClr val="E6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25" lIns="128675" spcFirstLastPara="1" rIns="128675" wrap="square" tIns="6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217864" y="5254634"/>
            <a:ext cx="13053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674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✅ Type cannot change after inference</a:t>
            </a:r>
            <a:endParaRPr sz="1971"/>
          </a:p>
        </p:txBody>
      </p:sp>
      <p:sp>
        <p:nvSpPr>
          <p:cNvPr id="161" name="Google Shape;161;p7"/>
          <p:cNvSpPr/>
          <p:nvPr/>
        </p:nvSpPr>
        <p:spPr>
          <a:xfrm>
            <a:off x="896100" y="6177025"/>
            <a:ext cx="13696200" cy="987000"/>
          </a:xfrm>
          <a:prstGeom prst="roundRect">
            <a:avLst>
              <a:gd fmla="val 21739" name="adj"/>
            </a:avLst>
          </a:prstGeom>
          <a:solidFill>
            <a:srgbClr val="FFFFFF"/>
          </a:solidFill>
          <a:ln cap="flat" cmpd="sng" w="17900">
            <a:solidFill>
              <a:srgbClr val="E6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325" lIns="128675" spcFirstLastPara="1" rIns="128675" wrap="square" tIns="64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9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217864" y="6412985"/>
            <a:ext cx="130530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674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✅ Can only be used for local variables (not fields or parameters)</a:t>
            </a:r>
            <a:endParaRPr sz="197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Why Use var?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1039062" y="1612100"/>
            <a:ext cx="100011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3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✅ Benefits of var</a:t>
            </a:r>
            <a:endParaRPr sz="3000"/>
          </a:p>
        </p:txBody>
      </p:sp>
      <p:sp>
        <p:nvSpPr>
          <p:cNvPr id="172" name="Google Shape;172;p8"/>
          <p:cNvSpPr/>
          <p:nvPr/>
        </p:nvSpPr>
        <p:spPr>
          <a:xfrm>
            <a:off x="1015998" y="2511657"/>
            <a:ext cx="5397300" cy="1786500"/>
          </a:xfrm>
          <a:prstGeom prst="roundRect">
            <a:avLst>
              <a:gd fmla="val 8694" name="adj"/>
            </a:avLst>
          </a:prstGeom>
          <a:solidFill>
            <a:srgbClr val="EAF0FB"/>
          </a:solidFill>
          <a:ln cap="flat" cmpd="sng" w="14375">
            <a:solidFill>
              <a:srgbClr val="CFD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50" lIns="103525" spcFirstLastPara="1" rIns="103525" wrap="square" tIns="5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5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1346044" y="2764044"/>
            <a:ext cx="4737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08" u="none" cap="none" strike="noStrike">
                <a:solidFill>
                  <a:srgbClr val="1A3FA8"/>
                </a:solidFill>
                <a:latin typeface="Arial"/>
                <a:ea typeface="Arial"/>
                <a:cs typeface="Arial"/>
                <a:sym typeface="Arial"/>
              </a:rPr>
              <a:t>🧹 Cleaner Code</a:t>
            </a:r>
            <a:endParaRPr sz="1585"/>
          </a:p>
        </p:txBody>
      </p:sp>
      <p:sp>
        <p:nvSpPr>
          <p:cNvPr id="174" name="Google Shape;174;p8"/>
          <p:cNvSpPr txBox="1"/>
          <p:nvPr/>
        </p:nvSpPr>
        <p:spPr>
          <a:xfrm>
            <a:off x="1346044" y="3261235"/>
            <a:ext cx="47373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8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Avoids repeating the type on both sides of </a:t>
            </a:r>
            <a:r>
              <a:rPr b="0" i="0" lang="en-US" spc="0" sz="1812" u="none" cap="none" strike="noStrike">
                <a:solidFill>
                  <a:srgbClr val="152A8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endParaRPr sz="1585"/>
          </a:p>
        </p:txBody>
      </p:sp>
      <p:sp>
        <p:nvSpPr>
          <p:cNvPr id="175" name="Google Shape;175;p8"/>
          <p:cNvSpPr/>
          <p:nvPr/>
        </p:nvSpPr>
        <p:spPr>
          <a:xfrm>
            <a:off x="6607369" y="2511657"/>
            <a:ext cx="5397300" cy="1786500"/>
          </a:xfrm>
          <a:prstGeom prst="roundRect">
            <a:avLst>
              <a:gd fmla="val 8694" name="adj"/>
            </a:avLst>
          </a:prstGeom>
          <a:solidFill>
            <a:srgbClr val="EAF0FB"/>
          </a:solidFill>
          <a:ln cap="flat" cmpd="sng" w="14375">
            <a:solidFill>
              <a:srgbClr val="CFD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50" lIns="103525" spcFirstLastPara="1" rIns="103525" wrap="square" tIns="5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5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937415" y="2764044"/>
            <a:ext cx="4737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08" u="none" cap="none" strike="noStrike">
                <a:solidFill>
                  <a:srgbClr val="1A3FA8"/>
                </a:solidFill>
                <a:latin typeface="Arial"/>
                <a:ea typeface="Arial"/>
                <a:cs typeface="Arial"/>
                <a:sym typeface="Arial"/>
              </a:rPr>
              <a:t>📖 Better Readability</a:t>
            </a:r>
            <a:endParaRPr sz="1585"/>
          </a:p>
        </p:txBody>
      </p:sp>
      <p:sp>
        <p:nvSpPr>
          <p:cNvPr id="177" name="Google Shape;177;p8"/>
          <p:cNvSpPr txBox="1"/>
          <p:nvPr/>
        </p:nvSpPr>
        <p:spPr>
          <a:xfrm>
            <a:off x="6937415" y="3261235"/>
            <a:ext cx="4737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8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When the type is obvious from context</a:t>
            </a:r>
            <a:endParaRPr sz="1585"/>
          </a:p>
        </p:txBody>
      </p:sp>
      <p:sp>
        <p:nvSpPr>
          <p:cNvPr id="178" name="Google Shape;178;p8"/>
          <p:cNvSpPr/>
          <p:nvPr/>
        </p:nvSpPr>
        <p:spPr>
          <a:xfrm>
            <a:off x="1015998" y="4492230"/>
            <a:ext cx="5397300" cy="1766400"/>
          </a:xfrm>
          <a:prstGeom prst="roundRect">
            <a:avLst>
              <a:gd fmla="val 8792" name="adj"/>
            </a:avLst>
          </a:prstGeom>
          <a:solidFill>
            <a:srgbClr val="EAF0FB"/>
          </a:solidFill>
          <a:ln cap="flat" cmpd="sng" w="14375">
            <a:solidFill>
              <a:srgbClr val="CFD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50" lIns="103525" spcFirstLastPara="1" rIns="103525" wrap="square" tIns="5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5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1346044" y="4744617"/>
            <a:ext cx="4737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08" u="none" cap="none" strike="noStrike">
                <a:solidFill>
                  <a:srgbClr val="1A3FA8"/>
                </a:solidFill>
                <a:latin typeface="Arial"/>
                <a:ea typeface="Arial"/>
                <a:cs typeface="Arial"/>
                <a:sym typeface="Arial"/>
              </a:rPr>
              <a:t>🔧 Essential with LINQ</a:t>
            </a:r>
            <a:endParaRPr sz="1585"/>
          </a:p>
        </p:txBody>
      </p:sp>
      <p:sp>
        <p:nvSpPr>
          <p:cNvPr id="180" name="Google Shape;180;p8"/>
          <p:cNvSpPr txBox="1"/>
          <p:nvPr/>
        </p:nvSpPr>
        <p:spPr>
          <a:xfrm>
            <a:off x="1346044" y="5241808"/>
            <a:ext cx="4737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8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Anonymous types require var — no choice!</a:t>
            </a:r>
            <a:endParaRPr sz="1585"/>
          </a:p>
        </p:txBody>
      </p:sp>
      <p:sp>
        <p:nvSpPr>
          <p:cNvPr id="181" name="Google Shape;181;p8"/>
          <p:cNvSpPr/>
          <p:nvPr/>
        </p:nvSpPr>
        <p:spPr>
          <a:xfrm>
            <a:off x="6607369" y="4492230"/>
            <a:ext cx="5397300" cy="1766400"/>
          </a:xfrm>
          <a:prstGeom prst="roundRect">
            <a:avLst>
              <a:gd fmla="val 8792" name="adj"/>
            </a:avLst>
          </a:prstGeom>
          <a:solidFill>
            <a:srgbClr val="EAF0FB"/>
          </a:solidFill>
          <a:ln cap="flat" cmpd="sng" w="14375">
            <a:solidFill>
              <a:srgbClr val="CFD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50" lIns="103525" spcFirstLastPara="1" rIns="103525" wrap="square" tIns="51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5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6937415" y="4744617"/>
            <a:ext cx="4737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08" u="none" cap="none" strike="noStrike">
                <a:solidFill>
                  <a:srgbClr val="1A3FA8"/>
                </a:solidFill>
                <a:latin typeface="Arial"/>
                <a:ea typeface="Arial"/>
                <a:cs typeface="Arial"/>
                <a:sym typeface="Arial"/>
              </a:rPr>
              <a:t>⏱️ Easier Refactoring</a:t>
            </a:r>
            <a:endParaRPr sz="1585"/>
          </a:p>
        </p:txBody>
      </p:sp>
      <p:sp>
        <p:nvSpPr>
          <p:cNvPr id="183" name="Google Shape;183;p8"/>
          <p:cNvSpPr txBox="1"/>
          <p:nvPr/>
        </p:nvSpPr>
        <p:spPr>
          <a:xfrm>
            <a:off x="6937415" y="5241808"/>
            <a:ext cx="4737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8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Change return type without updating variable declarations</a:t>
            </a:r>
            <a:endParaRPr sz="1585"/>
          </a:p>
        </p:txBody>
      </p:sp>
      <p:sp>
        <p:nvSpPr>
          <p:cNvPr id="184" name="Google Shape;184;p8"/>
          <p:cNvSpPr txBox="1"/>
          <p:nvPr/>
        </p:nvSpPr>
        <p:spPr>
          <a:xfrm>
            <a:off x="12198750" y="1612100"/>
            <a:ext cx="37197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3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Before and After</a:t>
            </a:r>
            <a:endParaRPr sz="3000"/>
          </a:p>
        </p:txBody>
      </p:sp>
      <p:sp>
        <p:nvSpPr>
          <p:cNvPr id="185" name="Google Shape;185;p8"/>
          <p:cNvSpPr/>
          <p:nvPr/>
        </p:nvSpPr>
        <p:spPr>
          <a:xfrm>
            <a:off x="12198750" y="2544375"/>
            <a:ext cx="9121200" cy="2649000"/>
          </a:xfrm>
          <a:prstGeom prst="roundRect">
            <a:avLst>
              <a:gd fmla="val 7336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2473082" y="2750119"/>
            <a:ext cx="120000" cy="1200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2678822" y="2750119"/>
            <a:ext cx="120000" cy="1200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2884562" y="2750119"/>
            <a:ext cx="120000" cy="1200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12507375" y="3058725"/>
            <a:ext cx="8557500" cy="1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❌ Without var - repetitive</a:t>
            </a:r>
            <a:endParaRPr/>
          </a:p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5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165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&gt;&gt; data = </a:t>
            </a: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165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165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&gt;&gt;();</a:t>
            </a:r>
            <a:endParaRPr/>
          </a:p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✅ With var - cleaner</a:t>
            </a:r>
            <a:endParaRPr/>
          </a:p>
          <a:p>
            <a:pPr indent="0" lvl="0" marL="0" marR="0" rtl="0" algn="l">
              <a:lnSpc>
                <a:spcPct val="1484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data = </a:t>
            </a: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165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165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16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16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&gt;&gt;();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039050" y="6874775"/>
            <a:ext cx="19822500" cy="1878600"/>
          </a:xfrm>
          <a:prstGeom prst="roundRect">
            <a:avLst>
              <a:gd fmla="val 4085" name="adj"/>
            </a:avLst>
          </a:prstGeom>
          <a:solidFill>
            <a:srgbClr val="FBECEC"/>
          </a:solidFill>
          <a:ln cap="flat" cmpd="sng" w="12700">
            <a:solidFill>
              <a:srgbClr val="F2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1634425" y="7025274"/>
            <a:ext cx="18631800" cy="17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Don't overuse var!</a:t>
            </a:r>
            <a:r>
              <a:rPr b="0" i="0" lang="en-US" spc="0" sz="2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When type isn't obvious, explicit typing improves readability:</a:t>
            </a:r>
            <a:endParaRPr/>
          </a:p>
          <a:p>
            <a:pPr indent="0" lvl="0" marL="0" marR="0" rtl="0" algn="l">
              <a:lnSpc>
                <a:spcPct val="151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152A8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 result = GetData();</a:t>
            </a:r>
            <a:r>
              <a:rPr b="0" i="0" lang="en-US" spc="0" sz="2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— What type is result ????</a:t>
            </a:r>
            <a:r>
              <a:rPr lang="en-US" sz="2150">
                <a:solidFill>
                  <a:srgbClr val="1F2937"/>
                </a:solidFill>
              </a:rPr>
              <a:t> </a:t>
            </a:r>
            <a:endParaRPr/>
          </a:p>
          <a:p>
            <a:pPr indent="0" lvl="0" marL="0" marR="0" rtl="0" algn="l">
              <a:lnSpc>
                <a:spcPct val="151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152A8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List&lt;User&gt; result = GetData();</a:t>
            </a:r>
            <a:r>
              <a:rPr b="0" i="0" lang="en-US" spc="0" sz="2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— Clear! ✅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dynamic Keyword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11640312" y="11277189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dynamic,</a:t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96112" y="1722832"/>
            <a:ext cx="19888200" cy="1475100"/>
          </a:xfrm>
          <a:prstGeom prst="roundRect">
            <a:avLst>
              <a:gd fmla="val 10330" name="adj"/>
            </a:avLst>
          </a:prstGeom>
          <a:solidFill>
            <a:srgbClr val="F0F3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96112" y="1722832"/>
            <a:ext cx="114300" cy="14751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1429512" y="1970482"/>
            <a:ext cx="190119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300" u="none" cap="none" strike="noStrike">
                <a:solidFill>
                  <a:srgbClr val="152A8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2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tells the compiler: </a:t>
            </a:r>
            <a:r>
              <a:rPr b="1" i="0" lang="en-US" spc="0" sz="2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"Don't check the type now, figure it out at runtime."</a:t>
            </a:r>
            <a:r>
              <a:rPr b="0" i="0" lang="en-US" spc="0" sz="2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This disables compile-time type checking completely.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1005668" y="3511668"/>
            <a:ext cx="96774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3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Type Can Change at Runtime</a:t>
            </a:r>
            <a:endParaRPr sz="3000"/>
          </a:p>
        </p:txBody>
      </p:sp>
      <p:sp>
        <p:nvSpPr>
          <p:cNvPr id="204" name="Google Shape;204;p9"/>
          <p:cNvSpPr/>
          <p:nvPr/>
        </p:nvSpPr>
        <p:spPr>
          <a:xfrm>
            <a:off x="1005656" y="4101019"/>
            <a:ext cx="9677400" cy="5520000"/>
          </a:xfrm>
          <a:prstGeom prst="roundRect">
            <a:avLst>
              <a:gd fmla="val 4024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310468" y="4329628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539068" y="4329628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767668" y="4329628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1348568" y="4672528"/>
            <a:ext cx="89916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0" i="0" lang="en-US" spc="0" sz="20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          </a:t>
            </a:r>
            <a:r>
              <a:rPr b="0" i="0" lang="en-US" spc="0" sz="20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x is int (at this moment)</a:t>
            </a:r>
            <a:endParaRPr/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0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(x.</a:t>
            </a:r>
            <a:r>
              <a:rPr b="0" i="0" lang="en-US" spc="0" sz="20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GetType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()); </a:t>
            </a:r>
            <a:r>
              <a:rPr b="0" i="0" lang="en-US" spc="0" sz="20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Output: System.Int32</a:t>
            </a:r>
            <a:endParaRPr/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b="0" i="0" lang="en-US" spc="0" sz="20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"Ahmed"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               </a:t>
            </a:r>
            <a:r>
              <a:rPr b="0" i="0" lang="en-US" spc="0" sz="20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x is now string ✅ No error!</a:t>
            </a:r>
            <a:endParaRPr/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0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(x.</a:t>
            </a:r>
            <a:r>
              <a:rPr b="0" i="0" lang="en-US" spc="0" sz="20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GetType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()); </a:t>
            </a:r>
            <a:r>
              <a:rPr b="0" i="0" lang="en-US" spc="0" sz="20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Output: System.String</a:t>
            </a:r>
            <a:endParaRPr/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b="0" i="0" lang="en-US" spc="0" sz="20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                  </a:t>
            </a:r>
            <a:r>
              <a:rPr b="0" i="0" lang="en-US" spc="0" sz="20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x is now bool ✅ No error!</a:t>
            </a:r>
            <a:endParaRPr/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0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(x.</a:t>
            </a:r>
            <a:r>
              <a:rPr b="0" i="0" lang="en-US" spc="0" sz="20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GetType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()); </a:t>
            </a:r>
            <a:r>
              <a:rPr b="0" i="0" lang="en-US" spc="0" sz="20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Output: System.Boolean</a:t>
            </a:r>
            <a:endParaRPr/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b="0" i="0" lang="en-US" spc="0" sz="20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20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0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0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&gt;();        </a:t>
            </a:r>
            <a:r>
              <a:rPr b="0" i="0" lang="en-US" spc="0" sz="20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x is now List&lt;int&gt; ✅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4000">
                <a:solidFill>
                  <a:srgbClr val="152A85"/>
                </a:solidFill>
              </a:rPr>
              <a:t>Problems with dynamic</a:t>
            </a:r>
            <a:endParaRPr b="1" sz="4000">
              <a:solidFill>
                <a:srgbClr val="152A85"/>
              </a:solidFill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1016012" y="1771703"/>
            <a:ext cx="9029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30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 Compile-Time Safety</a:t>
            </a:r>
            <a:endParaRPr sz="3000"/>
          </a:p>
        </p:txBody>
      </p:sp>
      <p:sp>
        <p:nvSpPr>
          <p:cNvPr id="218" name="Google Shape;218;p10"/>
          <p:cNvSpPr/>
          <p:nvPr/>
        </p:nvSpPr>
        <p:spPr>
          <a:xfrm>
            <a:off x="1016000" y="2507425"/>
            <a:ext cx="9677400" cy="5337000"/>
          </a:xfrm>
          <a:prstGeom prst="roundRect">
            <a:avLst>
              <a:gd fmla="val 4190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320812" y="2736024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549412" y="2736024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778012" y="2736024"/>
            <a:ext cx="133500" cy="13350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1358912" y="3078924"/>
            <a:ext cx="8991600" cy="3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0" i="0" lang="en-US" spc="0" sz="195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"Ahmed"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195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(x.Length);  </a:t>
            </a:r>
            <a:r>
              <a:rPr b="0" i="0" lang="en-US" spc="0" sz="19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✅ Works - string has Length</a:t>
            </a:r>
            <a:endParaRPr/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b="0" i="0" lang="en-US" spc="0" sz="195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                        </a:t>
            </a:r>
            <a:r>
              <a:rPr b="0" i="0" lang="en-US" spc="0" sz="19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Now x is int</a:t>
            </a:r>
            <a:endParaRPr/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195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(x.Length);  </a:t>
            </a:r>
            <a:r>
              <a:rPr b="0" i="0" lang="en-US" spc="0" sz="19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lang="en-US" sz="1950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-US" spc="0" sz="19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RUNTIME ERROR!</a:t>
            </a:r>
            <a:endParaRPr/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RuntimeBinderException: 'int' does not contain 'Length'</a:t>
            </a:r>
            <a:endParaRPr/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This COMPILES but CRASHES:</a:t>
            </a:r>
            <a:endParaRPr/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y = </a:t>
            </a:r>
            <a:r>
              <a:rPr b="0" i="0" lang="en-US" spc="0" sz="195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y.</a:t>
            </a:r>
            <a:r>
              <a:rPr b="0" i="0" lang="en-US" spc="0" sz="195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NonExistentMethod</a:t>
            </a:r>
            <a:r>
              <a:rPr b="0" i="0" lang="en-US" spc="0" sz="195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();  </a:t>
            </a:r>
            <a:r>
              <a:rPr b="0" i="0" lang="en-US" spc="0" sz="195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Compiles!  Crashes at runtime!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10998300" y="2507425"/>
            <a:ext cx="9957000" cy="2529600"/>
          </a:xfrm>
          <a:prstGeom prst="roundRect">
            <a:avLst>
              <a:gd fmla="val 8792" name="adj"/>
            </a:avLst>
          </a:prstGeom>
          <a:solidFill>
            <a:srgbClr val="FBECEC"/>
          </a:solidFill>
          <a:ln cap="flat" cmpd="sng" w="12700">
            <a:solidFill>
              <a:srgbClr val="F2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11333749" y="2868825"/>
            <a:ext cx="94506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3000" u="none" cap="none" strike="noStrike">
                <a:solidFill>
                  <a:srgbClr val="B42323"/>
                </a:solidFill>
                <a:latin typeface="Arial"/>
                <a:ea typeface="Arial"/>
                <a:cs typeface="Arial"/>
                <a:sym typeface="Arial"/>
              </a:rPr>
              <a:t> Runtime Errors Only</a:t>
            </a:r>
            <a:endParaRPr sz="3000"/>
          </a:p>
        </p:txBody>
      </p:sp>
      <p:sp>
        <p:nvSpPr>
          <p:cNvPr id="225" name="Google Shape;225;p10"/>
          <p:cNvSpPr txBox="1"/>
          <p:nvPr/>
        </p:nvSpPr>
        <p:spPr>
          <a:xfrm>
            <a:off x="11333749" y="3580765"/>
            <a:ext cx="94506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2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compile-time protection — errors discovered late in production</a:t>
            </a:r>
            <a:endParaRPr sz="3000"/>
          </a:p>
        </p:txBody>
      </p:sp>
      <p:sp>
        <p:nvSpPr>
          <p:cNvPr id="226" name="Google Shape;226;p10"/>
          <p:cNvSpPr/>
          <p:nvPr/>
        </p:nvSpPr>
        <p:spPr>
          <a:xfrm>
            <a:off x="10998300" y="5314795"/>
            <a:ext cx="9957000" cy="2529600"/>
          </a:xfrm>
          <a:prstGeom prst="roundRect">
            <a:avLst>
              <a:gd fmla="val 8792" name="adj"/>
            </a:avLst>
          </a:prstGeom>
          <a:solidFill>
            <a:srgbClr val="FBECEC"/>
          </a:solidFill>
          <a:ln cap="flat" cmpd="sng" w="12700">
            <a:solidFill>
              <a:srgbClr val="F2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1333749" y="5676188"/>
            <a:ext cx="94506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3000" u="none" cap="none" strike="noStrike">
                <a:solidFill>
                  <a:srgbClr val="B42323"/>
                </a:solidFill>
                <a:latin typeface="Arial"/>
                <a:ea typeface="Arial"/>
                <a:cs typeface="Arial"/>
                <a:sym typeface="Arial"/>
              </a:rPr>
              <a:t>Slower Performance</a:t>
            </a:r>
            <a:endParaRPr sz="3000"/>
          </a:p>
        </p:txBody>
      </p:sp>
      <p:sp>
        <p:nvSpPr>
          <p:cNvPr id="228" name="Google Shape;228;p10"/>
          <p:cNvSpPr txBox="1"/>
          <p:nvPr/>
        </p:nvSpPr>
        <p:spPr>
          <a:xfrm>
            <a:off x="11333749" y="6153365"/>
            <a:ext cx="94506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2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Runtime type resolution adds overhead on every call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var vs dynamic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graphicFrame>
        <p:nvGraphicFramePr>
          <p:cNvPr id="237" name="Google Shape;237;p12"/>
          <p:cNvGraphicFramePr/>
          <p:nvPr/>
        </p:nvGraphicFramePr>
        <p:xfrm>
          <a:off x="2854074" y="2410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{F8C0C676-757B-4389-9DC6-301904F0388F}</a:tableStyleId>
              </a:tblPr>
              <a:tblGrid>
                <a:gridCol w="5864450"/>
                <a:gridCol w="4841300"/>
                <a:gridCol w="5266525"/>
              </a:tblGrid>
              <a:tr h="196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pc="0" sz="3000" u="none" cap="none" strike="noStrike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pc="0" sz="3000" u="none" cap="none" strike="noStrike">
                          <a:solidFill>
                            <a:srgbClr val="FFFFFF"/>
                          </a:solidFill>
                        </a:rPr>
                        <a:t>var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pc="0" sz="3000" u="none" cap="none" strike="noStrike">
                          <a:solidFill>
                            <a:srgbClr val="FFFFFF"/>
                          </a:solidFill>
                        </a:rPr>
                        <a:t>dynamic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C89"/>
                    </a:solidFill>
                  </a:tcPr>
                </a:tc>
              </a:tr>
              <a:tr h="18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pc="0" sz="3000" u="none" cap="none" strike="noStrike">
                          <a:solidFill>
                            <a:srgbClr val="1F2937"/>
                          </a:solidFill>
                        </a:rPr>
                        <a:t>Type Known At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pc="0" sz="3000" u="none" cap="none" strike="noStrike">
                          <a:solidFill>
                            <a:srgbClr val="1F2937"/>
                          </a:solidFill>
                        </a:rPr>
                        <a:t>Compile-time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pc="0" sz="3000" u="none" cap="none" strike="noStrike">
                          <a:solidFill>
                            <a:srgbClr val="1F2937"/>
                          </a:solidFill>
                        </a:rPr>
                        <a:t>Runtime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pc="0" sz="3000" u="none" cap="none" strike="noStrike">
                          <a:solidFill>
                            <a:srgbClr val="1F2937"/>
                          </a:solidFill>
                        </a:rPr>
                        <a:t>Type Safety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pc="0" sz="3000" u="none" cap="none" strike="noStrike">
                          <a:solidFill>
                            <a:srgbClr val="1F2937"/>
                          </a:solidFill>
                        </a:rPr>
                        <a:t>✅ Full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pc="0" sz="3000" u="none" cap="none" strike="noStrike">
                          <a:solidFill>
                            <a:srgbClr val="1F2937"/>
                          </a:solidFill>
                        </a:rPr>
                        <a:t>❌ None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pc="0" sz="3000" u="none" cap="none" strike="noStrike">
                          <a:solidFill>
                            <a:srgbClr val="1F2937"/>
                          </a:solidFill>
                        </a:rPr>
                        <a:t>Member Access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pc="0" sz="3000" u="none" cap="none" strike="noStrike">
                          <a:solidFill>
                            <a:srgbClr val="1F2937"/>
                          </a:solidFill>
                        </a:rPr>
                        <a:t>Direct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pc="0" sz="3000" u="none" cap="none" strike="noStrike">
                          <a:solidFill>
                            <a:srgbClr val="1F2937"/>
                          </a:solidFill>
                        </a:rPr>
                        <a:t>Direct (unsafe)</a:t>
                      </a:r>
                      <a:endParaRPr sz="3000"/>
                    </a:p>
                  </a:txBody>
                  <a:tcPr marT="42850" marB="42850" marR="171450" marL="171450" anchor="ctr">
                    <a:lnL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pic>
        <p:nvPicPr>
          <p:cNvPr id="246" name="Google Shape;246;p13" title="Q1_question.png"/>
          <p:cNvPicPr preferRelativeResize="0"/>
          <p:nvPr/>
        </p:nvPicPr>
        <p:blipFill rotWithShape="1">
          <a:blip r:embed="rId3">
            <a:alphaModFix/>
          </a:blip>
          <a:srcRect b="36347" l="3467" r="3084" t="13151"/>
          <a:stretch/>
        </p:blipFill>
        <p:spPr>
          <a:xfrm>
            <a:off x="896100" y="1901743"/>
            <a:ext cx="20116803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17890b5fe3eed53b_0_2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h17890b5fe3eed53b_0_2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h17890b5fe3eed53b_0_28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h17890b5fe3eed53b_0_2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pic>
        <p:nvPicPr>
          <p:cNvPr id="255" name="Google Shape;255;h17890b5fe3eed53b_0_28" title="Q1_answer.png"/>
          <p:cNvPicPr preferRelativeResize="0"/>
          <p:nvPr/>
        </p:nvPicPr>
        <p:blipFill rotWithShape="1">
          <a:blip r:embed="rId3">
            <a:alphaModFix/>
          </a:blip>
          <a:srcRect b="20072" l="4445" r="3904" t="13642"/>
          <a:stretch/>
        </p:blipFill>
        <p:spPr>
          <a:xfrm>
            <a:off x="1062200" y="1917238"/>
            <a:ext cx="19554499" cy="835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17890b5fe3eed53b_0_3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h17890b5fe3eed53b_0_3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h17890b5fe3eed53b_0_37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h17890b5fe3eed53b_0_3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pic>
        <p:nvPicPr>
          <p:cNvPr id="264" name="Google Shape;264;h17890b5fe3eed53b_0_37" title="Q2_question.png"/>
          <p:cNvPicPr preferRelativeResize="0"/>
          <p:nvPr/>
        </p:nvPicPr>
        <p:blipFill rotWithShape="1">
          <a:blip r:embed="rId3">
            <a:alphaModFix/>
          </a:blip>
          <a:srcRect b="25552" l="4027" r="3833" t="13480"/>
          <a:stretch/>
        </p:blipFill>
        <p:spPr>
          <a:xfrm>
            <a:off x="810913" y="1764400"/>
            <a:ext cx="20057073" cy="74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17890b5fe3eed53b_0_4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h17890b5fe3eed53b_0_4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h17890b5fe3eed53b_0_46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h17890b5fe3eed53b_0_4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pic>
        <p:nvPicPr>
          <p:cNvPr id="273" name="Google Shape;273;h17890b5fe3eed53b_0_46" title="Q2_answer.png"/>
          <p:cNvPicPr preferRelativeResize="0"/>
          <p:nvPr/>
        </p:nvPicPr>
        <p:blipFill rotWithShape="1">
          <a:blip r:embed="rId3">
            <a:alphaModFix/>
          </a:blip>
          <a:srcRect b="14534" l="4304" r="3928" t="13976"/>
          <a:stretch/>
        </p:blipFill>
        <p:spPr>
          <a:xfrm>
            <a:off x="987125" y="1778438"/>
            <a:ext cx="19704648" cy="863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17890b5fe3eed53b_0_55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h17890b5fe3eed53b_0_55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h17890b5fe3eed53b_0_55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h17890b5fe3eed53b_0_55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pic>
        <p:nvPicPr>
          <p:cNvPr id="282" name="Google Shape;282;h17890b5fe3eed53b_0_55" title="Q3_question.png"/>
          <p:cNvPicPr preferRelativeResize="0"/>
          <p:nvPr/>
        </p:nvPicPr>
        <p:blipFill rotWithShape="1">
          <a:blip r:embed="rId3">
            <a:alphaModFix/>
          </a:blip>
          <a:srcRect b="26075" l="4109" r="3750" t="13455"/>
          <a:stretch/>
        </p:blipFill>
        <p:spPr>
          <a:xfrm>
            <a:off x="956050" y="1889575"/>
            <a:ext cx="19768300" cy="72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17890b5fe3eed53b_0_64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h17890b5fe3eed53b_0_64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h17890b5fe3eed53b_0_64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h17890b5fe3eed53b_0_64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var, dynamic</a:t>
            </a:r>
            <a:endParaRPr/>
          </a:p>
        </p:txBody>
      </p:sp>
      <p:pic>
        <p:nvPicPr>
          <p:cNvPr id="291" name="Google Shape;291;h17890b5fe3eed53b_0_64" title="Q3_answer.png"/>
          <p:cNvPicPr preferRelativeResize="0"/>
          <p:nvPr/>
        </p:nvPicPr>
        <p:blipFill rotWithShape="1">
          <a:blip r:embed="rId3">
            <a:alphaModFix/>
          </a:blip>
          <a:srcRect b="11353" l="4395" r="3651" t="13459"/>
          <a:stretch/>
        </p:blipFill>
        <p:spPr>
          <a:xfrm>
            <a:off x="956050" y="1803228"/>
            <a:ext cx="19768300" cy="909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17890b5fe3eed53b_0_211"/>
          <p:cNvSpPr txBox="1"/>
          <p:nvPr/>
        </p:nvSpPr>
        <p:spPr>
          <a:xfrm>
            <a:off x="896112" y="4332224"/>
            <a:ext cx="9144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0" sz="2200" u="none" cap="none" strike="noStrike">
                <a:solidFill>
                  <a:srgbClr val="3F56C8"/>
                </a:solidFill>
                <a:latin typeface="Arial"/>
                <a:ea typeface="Arial"/>
                <a:cs typeface="Arial"/>
                <a:sym typeface="Arial"/>
              </a:rPr>
              <a:t>SECTION 0</a:t>
            </a:r>
            <a:r>
              <a:rPr b="1" lang="en-US" spc="500" sz="2200">
                <a:solidFill>
                  <a:srgbClr val="3F56C8"/>
                </a:solidFill>
              </a:rPr>
              <a:t>2</a:t>
            </a:r>
            <a:endParaRPr/>
          </a:p>
        </p:txBody>
      </p:sp>
      <p:sp>
        <p:nvSpPr>
          <p:cNvPr id="297" name="Google Shape;297;h17890b5fe3eed53b_0_211"/>
          <p:cNvSpPr txBox="1"/>
          <p:nvPr/>
        </p:nvSpPr>
        <p:spPr>
          <a:xfrm>
            <a:off x="896112" y="5063744"/>
            <a:ext cx="123444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102C89"/>
                </a:solidFill>
              </a:rPr>
              <a:t>Anonymous Type</a:t>
            </a:r>
            <a:endParaRPr/>
          </a:p>
        </p:txBody>
      </p:sp>
      <p:sp>
        <p:nvSpPr>
          <p:cNvPr id="298" name="Google Shape;298;h17890b5fe3eed53b_0_211"/>
          <p:cNvSpPr/>
          <p:nvPr/>
        </p:nvSpPr>
        <p:spPr>
          <a:xfrm>
            <a:off x="896112" y="6613144"/>
            <a:ext cx="1600200" cy="77700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17890b5fe3eed53b_0_211"/>
          <p:cNvSpPr txBox="1"/>
          <p:nvPr/>
        </p:nvSpPr>
        <p:spPr>
          <a:xfrm>
            <a:off x="896112" y="7106920"/>
            <a:ext cx="1207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F6B7A"/>
                </a:solidFill>
              </a:rPr>
              <a:t>A Type Without Name</a:t>
            </a:r>
            <a:endParaRPr/>
          </a:p>
        </p:txBody>
      </p:sp>
      <p:sp>
        <p:nvSpPr>
          <p:cNvPr id="300" name="Google Shape;300;h17890b5fe3eed53b_0_211"/>
          <p:cNvSpPr/>
          <p:nvPr/>
        </p:nvSpPr>
        <p:spPr>
          <a:xfrm>
            <a:off x="13807440" y="3734426"/>
            <a:ext cx="6282751" cy="4719676"/>
          </a:xfrm>
          <a:custGeom>
            <a:rect b="b" l="l" r="r" t="t"/>
            <a:pathLst>
              <a:path extrusionOk="0" h="4059936" w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C5D9FB">
              <a:alpha val="302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h17890b5fe3eed53b_0_211"/>
          <p:cNvSpPr/>
          <p:nvPr/>
        </p:nvSpPr>
        <p:spPr>
          <a:xfrm>
            <a:off x="14095095" y="3975726"/>
            <a:ext cx="5705856" cy="4242816"/>
          </a:xfrm>
          <a:custGeom>
            <a:rect b="b" l="l" r="r" t="t"/>
            <a:pathLst>
              <a:path extrusionOk="0" h="2340864" w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cap="flat" cmpd="sng" w="539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pc="0" sz="12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0">
                <a:solidFill>
                  <a:srgbClr val="102C89"/>
                </a:solidFill>
              </a:rPr>
              <a:t>2</a:t>
            </a:r>
            <a:endParaRPr b="1" i="0" spc="0" sz="1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h17890b5fe3eed53b_0_211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17890b5fe3eed53b_0_221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What is an Anonymous Type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h17890b5fe3eed53b_0_221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h17890b5fe3eed53b_0_221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h17890b5fe3eed53b_0_221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</a:t>
            </a:r>
            <a:r>
              <a:rPr lang="en-US" sz="1600">
                <a:solidFill>
                  <a:srgbClr val="5F6B7A"/>
                </a:solidFill>
              </a:rPr>
              <a:t>Anonymous Type</a:t>
            </a:r>
            <a:endParaRPr/>
          </a:p>
        </p:txBody>
      </p:sp>
      <p:pic>
        <p:nvPicPr>
          <p:cNvPr id="311" name="Google Shape;311;h17890b5fe3eed53b_0_221" title="01_What_is_Anonymous_Type.png"/>
          <p:cNvPicPr preferRelativeResize="0"/>
          <p:nvPr/>
        </p:nvPicPr>
        <p:blipFill rotWithShape="1">
          <a:blip r:embed="rId3">
            <a:alphaModFix/>
          </a:blip>
          <a:srcRect b="70805" l="0" r="0" t="13830"/>
          <a:stretch/>
        </p:blipFill>
        <p:spPr>
          <a:xfrm>
            <a:off x="0" y="1686125"/>
            <a:ext cx="21674675" cy="187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h17890b5fe3eed53b_0_221" title="01_What_is_Anonymous_Type.png"/>
          <p:cNvPicPr preferRelativeResize="0"/>
          <p:nvPr/>
        </p:nvPicPr>
        <p:blipFill rotWithShape="1">
          <a:blip r:embed="rId3">
            <a:alphaModFix/>
          </a:blip>
          <a:srcRect b="30201" l="0" r="55072" t="29909"/>
          <a:stretch/>
        </p:blipFill>
        <p:spPr>
          <a:xfrm>
            <a:off x="152400" y="3798975"/>
            <a:ext cx="9737876" cy="48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h17890b5fe3eed53b_0_221" title="01_What_is_Anonymous_Type.png"/>
          <p:cNvPicPr preferRelativeResize="0"/>
          <p:nvPr/>
        </p:nvPicPr>
        <p:blipFill rotWithShape="1">
          <a:blip r:embed="rId3">
            <a:alphaModFix/>
          </a:blip>
          <a:srcRect b="33472" l="44220" r="3142" t="28659"/>
          <a:stretch/>
        </p:blipFill>
        <p:spPr>
          <a:xfrm>
            <a:off x="9890275" y="3798975"/>
            <a:ext cx="11409475" cy="46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h17890b5fe3eed53b_0_232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Anonymous Type Rules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h17890b5fe3eed53b_0_232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h17890b5fe3eed53b_0_232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h17890b5fe3eed53b_0_232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</a:t>
            </a:r>
            <a:r>
              <a:rPr lang="en-US" sz="1600">
                <a:solidFill>
                  <a:srgbClr val="5F6B7A"/>
                </a:solidFill>
              </a:rPr>
              <a:t>Anonymous Type</a:t>
            </a:r>
            <a:endParaRPr/>
          </a:p>
        </p:txBody>
      </p:sp>
      <p:pic>
        <p:nvPicPr>
          <p:cNvPr id="322" name="Google Shape;322;h17890b5fe3eed53b_0_232" title="02_Anonymous_Type_Rules.png"/>
          <p:cNvPicPr preferRelativeResize="0"/>
          <p:nvPr/>
        </p:nvPicPr>
        <p:blipFill rotWithShape="1">
          <a:blip r:embed="rId3">
            <a:alphaModFix/>
          </a:blip>
          <a:srcRect b="74590" l="0" r="0" t="13575"/>
          <a:stretch/>
        </p:blipFill>
        <p:spPr>
          <a:xfrm>
            <a:off x="2863" y="1732788"/>
            <a:ext cx="21674675" cy="144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h17890b5fe3eed53b_0_232" title="02_Anonymous_Type_Rules.png"/>
          <p:cNvPicPr preferRelativeResize="0"/>
          <p:nvPr/>
        </p:nvPicPr>
        <p:blipFill rotWithShape="1">
          <a:blip r:embed="rId3">
            <a:alphaModFix/>
          </a:blip>
          <a:srcRect b="34400" l="2759" r="55505" t="25931"/>
          <a:stretch/>
        </p:blipFill>
        <p:spPr>
          <a:xfrm>
            <a:off x="671950" y="3313800"/>
            <a:ext cx="9046175" cy="483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h17890b5fe3eed53b_0_232" title="02_Anonymous_Type_Rules.png"/>
          <p:cNvPicPr preferRelativeResize="0"/>
          <p:nvPr/>
        </p:nvPicPr>
        <p:blipFill rotWithShape="1">
          <a:blip r:embed="rId3">
            <a:alphaModFix/>
          </a:blip>
          <a:srcRect b="31670" l="44296" r="3424" t="24682"/>
          <a:stretch/>
        </p:blipFill>
        <p:spPr>
          <a:xfrm>
            <a:off x="9796375" y="3071200"/>
            <a:ext cx="11331226" cy="53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17890b5fe3eed53b_0_24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Quick Check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h17890b5fe3eed53b_0_24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h17890b5fe3eed53b_0_248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h17890b5fe3eed53b_0_24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</a:t>
            </a:r>
            <a:r>
              <a:rPr lang="en-US" sz="1600">
                <a:solidFill>
                  <a:srgbClr val="5F6B7A"/>
                </a:solidFill>
              </a:rPr>
              <a:t>Anonymous Type</a:t>
            </a:r>
            <a:endParaRPr/>
          </a:p>
        </p:txBody>
      </p:sp>
      <p:pic>
        <p:nvPicPr>
          <p:cNvPr id="333" name="Google Shape;333;h17890b5fe3eed53b_0_248" title="05_Quick_Check_question (1).png"/>
          <p:cNvPicPr preferRelativeResize="0"/>
          <p:nvPr/>
        </p:nvPicPr>
        <p:blipFill rotWithShape="1">
          <a:blip r:embed="rId3">
            <a:alphaModFix/>
          </a:blip>
          <a:srcRect b="22497" l="0" r="0" t="14343"/>
          <a:stretch/>
        </p:blipFill>
        <p:spPr>
          <a:xfrm>
            <a:off x="0" y="1748725"/>
            <a:ext cx="21674675" cy="770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17890b5fe3eed53b_0_260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Quick Check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h17890b5fe3eed53b_0_260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h17890b5fe3eed53b_0_260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h17890b5fe3eed53b_0_260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</a:t>
            </a:r>
            <a:r>
              <a:rPr lang="en-US" sz="1600">
                <a:solidFill>
                  <a:srgbClr val="5F6B7A"/>
                </a:solidFill>
              </a:rPr>
              <a:t>Anonymous Type</a:t>
            </a:r>
            <a:endParaRPr/>
          </a:p>
        </p:txBody>
      </p:sp>
      <p:pic>
        <p:nvPicPr>
          <p:cNvPr id="342" name="Google Shape;342;h17890b5fe3eed53b_0_260" title="06_Quick_Check_answer (1).png"/>
          <p:cNvPicPr preferRelativeResize="0"/>
          <p:nvPr/>
        </p:nvPicPr>
        <p:blipFill rotWithShape="1">
          <a:blip r:embed="rId3">
            <a:alphaModFix/>
          </a:blip>
          <a:srcRect b="23523" l="0" r="0" t="14215"/>
          <a:stretch/>
        </p:blipFill>
        <p:spPr>
          <a:xfrm>
            <a:off x="0" y="1733075"/>
            <a:ext cx="21674675" cy="759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"/>
          <p:cNvSpPr txBox="1"/>
          <p:nvPr/>
        </p:nvSpPr>
        <p:spPr>
          <a:xfrm>
            <a:off x="896112" y="4218432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0" sz="2200" u="none" cap="none" strike="noStrike">
                <a:solidFill>
                  <a:srgbClr val="3F56C8"/>
                </a:solidFill>
                <a:latin typeface="Arial"/>
                <a:ea typeface="Arial"/>
                <a:cs typeface="Arial"/>
                <a:sym typeface="Arial"/>
              </a:rPr>
              <a:t>SECTION 0</a:t>
            </a:r>
            <a:r>
              <a:rPr b="1" lang="en-US" spc="500" sz="2200">
                <a:solidFill>
                  <a:srgbClr val="3F56C8"/>
                </a:solidFill>
              </a:rPr>
              <a:t>3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896112" y="4949952"/>
            <a:ext cx="12344400" cy="1365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6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LINQ Foundations</a:t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896112" y="6726936"/>
            <a:ext cx="1600200" cy="77724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896112" y="7220712"/>
            <a:ext cx="1207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8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Language Integrated Query — What, Why, and How it works</a:t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13807440" y="3734426"/>
            <a:ext cx="6282751" cy="4719676"/>
          </a:xfrm>
          <a:custGeom>
            <a:rect b="b" l="l" r="r" t="t"/>
            <a:pathLst>
              <a:path extrusionOk="0" h="4059936" w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C5D9FB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4095095" y="3975726"/>
            <a:ext cx="5705856" cy="4242816"/>
          </a:xfrm>
          <a:custGeom>
            <a:rect b="b" l="l" r="r" t="t"/>
            <a:pathLst>
              <a:path extrusionOk="0" h="2340864" w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cap="flat" cmpd="sng" w="539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pc="0" sz="12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0">
                <a:solidFill>
                  <a:srgbClr val="102C89"/>
                </a:solidFill>
              </a:rPr>
              <a:t>3</a:t>
            </a:r>
            <a:endParaRPr b="1" i="0" spc="0" sz="1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What is LINQ?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362" name="Google Shape;362;p15" title="01_What_is_LINQ.png"/>
          <p:cNvPicPr preferRelativeResize="0"/>
          <p:nvPr/>
        </p:nvPicPr>
        <p:blipFill rotWithShape="1">
          <a:blip r:embed="rId3">
            <a:alphaModFix/>
          </a:blip>
          <a:srcRect b="69779" l="0" r="0" t="13152"/>
          <a:stretch/>
        </p:blipFill>
        <p:spPr>
          <a:xfrm>
            <a:off x="0" y="1622025"/>
            <a:ext cx="21678899" cy="208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5" title="01_What_is_LINQ.png"/>
          <p:cNvPicPr preferRelativeResize="0"/>
          <p:nvPr/>
        </p:nvPicPr>
        <p:blipFill rotWithShape="1">
          <a:blip r:embed="rId3">
            <a:alphaModFix/>
          </a:blip>
          <a:srcRect b="55167" l="0" r="0" t="28973"/>
          <a:stretch/>
        </p:blipFill>
        <p:spPr>
          <a:xfrm>
            <a:off x="0" y="3703599"/>
            <a:ext cx="21678899" cy="193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5" title="01_What_is_LINQ.png"/>
          <p:cNvPicPr preferRelativeResize="0"/>
          <p:nvPr/>
        </p:nvPicPr>
        <p:blipFill rotWithShape="1">
          <a:blip r:embed="rId3">
            <a:alphaModFix/>
          </a:blip>
          <a:srcRect b="11269" l="0" r="0" t="44661"/>
          <a:stretch/>
        </p:blipFill>
        <p:spPr>
          <a:xfrm>
            <a:off x="0" y="5769496"/>
            <a:ext cx="21678899" cy="537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17890b5fe3eed53b_0_90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LINQ operators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h17890b5fe3eed53b_0_90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h17890b5fe3eed53b_0_90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h17890b5fe3eed53b_0_90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373" name="Google Shape;373;h17890b5fe3eed53b_0_90" title="03_LINQ_Operators.png"/>
          <p:cNvPicPr preferRelativeResize="0"/>
          <p:nvPr/>
        </p:nvPicPr>
        <p:blipFill rotWithShape="1">
          <a:blip r:embed="rId3">
            <a:alphaModFix/>
          </a:blip>
          <a:srcRect b="74724" l="0" r="0" t="13571"/>
          <a:stretch/>
        </p:blipFill>
        <p:spPr>
          <a:xfrm>
            <a:off x="0" y="1654825"/>
            <a:ext cx="21678899" cy="1427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h17890b5fe3eed53b_0_90" title="03_LINQ_Operators.png"/>
          <p:cNvPicPr preferRelativeResize="0"/>
          <p:nvPr/>
        </p:nvPicPr>
        <p:blipFill rotWithShape="1">
          <a:blip r:embed="rId3">
            <a:alphaModFix/>
          </a:blip>
          <a:srcRect b="46630" l="0" r="0" t="25285"/>
          <a:stretch/>
        </p:blipFill>
        <p:spPr>
          <a:xfrm>
            <a:off x="0" y="3235550"/>
            <a:ext cx="21678899" cy="342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h17890b5fe3eed53b_0_90" title="03_LINQ_Operators.png"/>
          <p:cNvPicPr preferRelativeResize="0"/>
          <p:nvPr/>
        </p:nvPicPr>
        <p:blipFill rotWithShape="1">
          <a:blip r:embed="rId3">
            <a:alphaModFix/>
          </a:blip>
          <a:srcRect b="28031" l="0" r="0" t="54582"/>
          <a:stretch/>
        </p:blipFill>
        <p:spPr>
          <a:xfrm>
            <a:off x="0" y="6960450"/>
            <a:ext cx="21678899" cy="212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17890b5fe3eed53b_0_103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One Syntax , Any Data Source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h17890b5fe3eed53b_0_103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h17890b5fe3eed53b_0_103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h17890b5fe3eed53b_0_103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384" name="Google Shape;384;h17890b5fe3eed53b_0_103" title="04_Any_Data_Source.png"/>
          <p:cNvPicPr preferRelativeResize="0"/>
          <p:nvPr/>
        </p:nvPicPr>
        <p:blipFill rotWithShape="1">
          <a:blip r:embed="rId3">
            <a:alphaModFix/>
          </a:blip>
          <a:srcRect b="73463" l="0" r="0" t="13957"/>
          <a:stretch/>
        </p:blipFill>
        <p:spPr>
          <a:xfrm>
            <a:off x="0" y="1701775"/>
            <a:ext cx="21674675" cy="153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h17890b5fe3eed53b_0_103" title="04_Any_Data_Source.png"/>
          <p:cNvPicPr preferRelativeResize="0"/>
          <p:nvPr/>
        </p:nvPicPr>
        <p:blipFill rotWithShape="1">
          <a:blip r:embed="rId3">
            <a:alphaModFix/>
          </a:blip>
          <a:srcRect b="39059" l="0" r="0" t="26666"/>
          <a:stretch/>
        </p:blipFill>
        <p:spPr>
          <a:xfrm>
            <a:off x="0" y="3251200"/>
            <a:ext cx="21674675" cy="417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h17890b5fe3eed53b_0_103" title="04_Any_Data_Source.png"/>
          <p:cNvPicPr preferRelativeResize="0"/>
          <p:nvPr/>
        </p:nvPicPr>
        <p:blipFill rotWithShape="1">
          <a:blip r:embed="rId3">
            <a:alphaModFix/>
          </a:blip>
          <a:srcRect b="26478" l="0" r="0" t="60942"/>
          <a:stretch/>
        </p:blipFill>
        <p:spPr>
          <a:xfrm>
            <a:off x="0" y="7429976"/>
            <a:ext cx="21674675" cy="153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17890b5fe3eed53b_0_11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Local vs Remote </a:t>
            </a:r>
            <a:r>
              <a:rPr b="1" lang="en-US" sz="4030">
                <a:solidFill>
                  <a:srgbClr val="102C89"/>
                </a:solidFill>
              </a:rPr>
              <a:t>Sequences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h17890b5fe3eed53b_0_11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h17890b5fe3eed53b_0_116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h17890b5fe3eed53b_0_11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395" name="Google Shape;395;h17890b5fe3eed53b_0_116" title="05_Local_vs_Remote.png"/>
          <p:cNvPicPr preferRelativeResize="0"/>
          <p:nvPr/>
        </p:nvPicPr>
        <p:blipFill rotWithShape="1">
          <a:blip r:embed="rId3">
            <a:alphaModFix/>
          </a:blip>
          <a:srcRect b="20573" l="0" r="0" t="13573"/>
          <a:stretch/>
        </p:blipFill>
        <p:spPr>
          <a:xfrm>
            <a:off x="0" y="1654825"/>
            <a:ext cx="21674675" cy="802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h17890b5fe3eed53b_0_116" title="05_Local_vs_Remote.png"/>
          <p:cNvPicPr preferRelativeResize="0"/>
          <p:nvPr/>
        </p:nvPicPr>
        <p:blipFill rotWithShape="1">
          <a:blip r:embed="rId3">
            <a:alphaModFix/>
          </a:blip>
          <a:srcRect b="74360" l="0" r="0" t="13573"/>
          <a:stretch/>
        </p:blipFill>
        <p:spPr>
          <a:xfrm>
            <a:off x="0" y="1654825"/>
            <a:ext cx="21674675" cy="147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Why Use LINQ?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405" name="Google Shape;405;p16" title="02_Why_Use_LINQ.png"/>
          <p:cNvPicPr preferRelativeResize="0"/>
          <p:nvPr/>
        </p:nvPicPr>
        <p:blipFill rotWithShape="1">
          <a:blip r:embed="rId3">
            <a:alphaModFix/>
          </a:blip>
          <a:srcRect b="11455" l="0" r="53864" t="14212"/>
          <a:stretch/>
        </p:blipFill>
        <p:spPr>
          <a:xfrm>
            <a:off x="0" y="1732575"/>
            <a:ext cx="9999852" cy="906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6" title="02_Why_Use_LINQ.png"/>
          <p:cNvPicPr preferRelativeResize="0"/>
          <p:nvPr/>
        </p:nvPicPr>
        <p:blipFill rotWithShape="1">
          <a:blip r:embed="rId3">
            <a:alphaModFix/>
          </a:blip>
          <a:srcRect b="11455" l="45433" r="0" t="14212"/>
          <a:stretch/>
        </p:blipFill>
        <p:spPr>
          <a:xfrm>
            <a:off x="9851675" y="1628588"/>
            <a:ext cx="11827226" cy="906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Query Syntax vs Method Syntax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415" name="Google Shape;415;p17" title="06_Query_vs_Method_Syntax.png"/>
          <p:cNvPicPr preferRelativeResize="0"/>
          <p:nvPr/>
        </p:nvPicPr>
        <p:blipFill rotWithShape="1">
          <a:blip r:embed="rId3">
            <a:alphaModFix/>
          </a:blip>
          <a:srcRect b="32767" l="0" r="0" t="13831"/>
          <a:stretch/>
        </p:blipFill>
        <p:spPr>
          <a:xfrm>
            <a:off x="2107" y="1686125"/>
            <a:ext cx="21674675" cy="65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7" title="06_Query_vs_Method_Syntax.png"/>
          <p:cNvPicPr preferRelativeResize="0"/>
          <p:nvPr/>
        </p:nvPicPr>
        <p:blipFill rotWithShape="1">
          <a:blip r:embed="rId3">
            <a:alphaModFix/>
          </a:blip>
          <a:srcRect b="72947" l="0" r="0" t="13831"/>
          <a:stretch/>
        </p:blipFill>
        <p:spPr>
          <a:xfrm>
            <a:off x="2107" y="1686125"/>
            <a:ext cx="21674675" cy="16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17890b5fe3eed53b_0_140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Quick Check </a:t>
            </a:r>
            <a:endParaRPr b="1" sz="4030">
              <a:solidFill>
                <a:srgbClr val="102C89"/>
              </a:solidFill>
            </a:endParaRPr>
          </a:p>
        </p:txBody>
      </p:sp>
      <p:sp>
        <p:nvSpPr>
          <p:cNvPr id="422" name="Google Shape;422;h17890b5fe3eed53b_0_140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h17890b5fe3eed53b_0_140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h17890b5fe3eed53b_0_140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425" name="Google Shape;425;h17890b5fe3eed53b_0_140" title="QuickCheck1_question.png"/>
          <p:cNvPicPr preferRelativeResize="0"/>
          <p:nvPr/>
        </p:nvPicPr>
        <p:blipFill rotWithShape="1">
          <a:blip r:embed="rId3">
            <a:alphaModFix/>
          </a:blip>
          <a:srcRect b="26609" l="0" r="0" t="14338"/>
          <a:stretch/>
        </p:blipFill>
        <p:spPr>
          <a:xfrm>
            <a:off x="0" y="1748725"/>
            <a:ext cx="21674675" cy="71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17890b5fe3eed53b_0_150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Quick Check </a:t>
            </a:r>
            <a:endParaRPr b="1" sz="4030">
              <a:solidFill>
                <a:srgbClr val="102C89"/>
              </a:solidFill>
            </a:endParaRPr>
          </a:p>
        </p:txBody>
      </p:sp>
      <p:sp>
        <p:nvSpPr>
          <p:cNvPr id="431" name="Google Shape;431;h17890b5fe3eed53b_0_150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h17890b5fe3eed53b_0_150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h17890b5fe3eed53b_0_150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434" name="Google Shape;434;h17890b5fe3eed53b_0_150" title="QuickCheck1_answer.png"/>
          <p:cNvPicPr preferRelativeResize="0"/>
          <p:nvPr/>
        </p:nvPicPr>
        <p:blipFill rotWithShape="1">
          <a:blip r:embed="rId3">
            <a:alphaModFix/>
          </a:blip>
          <a:srcRect b="20332" l="0" r="0" t="14081"/>
          <a:stretch/>
        </p:blipFill>
        <p:spPr>
          <a:xfrm>
            <a:off x="0" y="1717425"/>
            <a:ext cx="21678899" cy="79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h17890b5fe3eed53b_0_159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Quick Check </a:t>
            </a:r>
            <a:endParaRPr b="1" sz="4030">
              <a:solidFill>
                <a:srgbClr val="102C89"/>
              </a:solidFill>
            </a:endParaRPr>
          </a:p>
        </p:txBody>
      </p:sp>
      <p:sp>
        <p:nvSpPr>
          <p:cNvPr id="440" name="Google Shape;440;h17890b5fe3eed53b_0_159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h17890b5fe3eed53b_0_159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h17890b5fe3eed53b_0_159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443" name="Google Shape;443;h17890b5fe3eed53b_0_159" title="QuickCheck2_question.png"/>
          <p:cNvPicPr preferRelativeResize="0"/>
          <p:nvPr/>
        </p:nvPicPr>
        <p:blipFill rotWithShape="1">
          <a:blip r:embed="rId3">
            <a:alphaModFix/>
          </a:blip>
          <a:srcRect b="31229" l="0" r="0" t="15625"/>
          <a:stretch/>
        </p:blipFill>
        <p:spPr>
          <a:xfrm>
            <a:off x="0" y="1905225"/>
            <a:ext cx="21674675" cy="64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17890b5fe3eed53b_0_16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Quick Check </a:t>
            </a:r>
            <a:endParaRPr b="1" sz="4030">
              <a:solidFill>
                <a:srgbClr val="102C89"/>
              </a:solidFill>
            </a:endParaRPr>
          </a:p>
        </p:txBody>
      </p:sp>
      <p:sp>
        <p:nvSpPr>
          <p:cNvPr id="449" name="Google Shape;449;h17890b5fe3eed53b_0_16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h17890b5fe3eed53b_0_167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h17890b5fe3eed53b_0_16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452" name="Google Shape;452;h17890b5fe3eed53b_0_167" title="QuickCheck2_answer.png"/>
          <p:cNvPicPr preferRelativeResize="0"/>
          <p:nvPr/>
        </p:nvPicPr>
        <p:blipFill rotWithShape="1">
          <a:blip r:embed="rId3">
            <a:alphaModFix/>
          </a:blip>
          <a:srcRect b="26233" l="0" r="0" t="13833"/>
          <a:stretch/>
        </p:blipFill>
        <p:spPr>
          <a:xfrm>
            <a:off x="0" y="1686125"/>
            <a:ext cx="21678899" cy="730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17890b5fe3eed53b_0_17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Quick Check </a:t>
            </a:r>
            <a:endParaRPr b="1" sz="4030">
              <a:solidFill>
                <a:srgbClr val="102C89"/>
              </a:solidFill>
            </a:endParaRPr>
          </a:p>
        </p:txBody>
      </p:sp>
      <p:sp>
        <p:nvSpPr>
          <p:cNvPr id="458" name="Google Shape;458;h17890b5fe3eed53b_0_17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h17890b5fe3eed53b_0_177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h17890b5fe3eed53b_0_17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461" name="Google Shape;461;h17890b5fe3eed53b_0_177" title="QuickCheck3_question.png"/>
          <p:cNvPicPr preferRelativeResize="0"/>
          <p:nvPr/>
        </p:nvPicPr>
        <p:blipFill rotWithShape="1">
          <a:blip r:embed="rId3">
            <a:alphaModFix/>
          </a:blip>
          <a:srcRect b="27134" l="0" r="0" t="14727"/>
          <a:stretch/>
        </p:blipFill>
        <p:spPr>
          <a:xfrm>
            <a:off x="0" y="1795676"/>
            <a:ext cx="21678899" cy="708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17890b5fe3eed53b_0_18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0"/>
              <a:buFont typeface="Arial"/>
              <a:buNone/>
            </a:pPr>
            <a:r>
              <a:rPr b="1" lang="en-US" sz="4030">
                <a:solidFill>
                  <a:srgbClr val="102C89"/>
                </a:solidFill>
              </a:rPr>
              <a:t>Quick Check </a:t>
            </a:r>
            <a:endParaRPr b="1" sz="4030">
              <a:solidFill>
                <a:srgbClr val="102C89"/>
              </a:solidFill>
            </a:endParaRPr>
          </a:p>
        </p:txBody>
      </p:sp>
      <p:sp>
        <p:nvSpPr>
          <p:cNvPr id="467" name="Google Shape;467;h17890b5fe3eed53b_0_18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h17890b5fe3eed53b_0_186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h17890b5fe3eed53b_0_18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LINQ Foundations</a:t>
            </a:r>
            <a:endParaRPr/>
          </a:p>
        </p:txBody>
      </p:sp>
      <p:pic>
        <p:nvPicPr>
          <p:cNvPr id="470" name="Google Shape;470;h17890b5fe3eed53b_0_186" title="QuickCheck3_answer.png"/>
          <p:cNvPicPr preferRelativeResize="0"/>
          <p:nvPr/>
        </p:nvPicPr>
        <p:blipFill rotWithShape="1">
          <a:blip r:embed="rId3">
            <a:alphaModFix/>
          </a:blip>
          <a:srcRect b="25968" l="0" r="0" t="15108"/>
          <a:stretch/>
        </p:blipFill>
        <p:spPr>
          <a:xfrm>
            <a:off x="0" y="1842625"/>
            <a:ext cx="21674675" cy="71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17890b5fe3eed53b_0_74"/>
          <p:cNvSpPr txBox="1"/>
          <p:nvPr/>
        </p:nvSpPr>
        <p:spPr>
          <a:xfrm>
            <a:off x="896112" y="4949952"/>
            <a:ext cx="12344400" cy="1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102C89"/>
                </a:solidFill>
              </a:rPr>
              <a:t>Quick Recap</a:t>
            </a:r>
            <a:endParaRPr/>
          </a:p>
        </p:txBody>
      </p:sp>
      <p:sp>
        <p:nvSpPr>
          <p:cNvPr id="476" name="Google Shape;476;h17890b5fe3eed53b_0_74"/>
          <p:cNvSpPr/>
          <p:nvPr/>
        </p:nvSpPr>
        <p:spPr>
          <a:xfrm>
            <a:off x="896112" y="6726936"/>
            <a:ext cx="1600200" cy="77700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h17890b5fe3eed53b_0_74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Recap — Lambda</a:t>
            </a:r>
            <a:r>
              <a:rPr b="1" lang="en-US" sz="4030">
                <a:solidFill>
                  <a:srgbClr val="102C89"/>
                </a:solidFill>
              </a:rPr>
              <a:t> Expressions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</a:t>
            </a:r>
            <a:r>
              <a:rPr lang="en-US" sz="1600">
                <a:solidFill>
                  <a:srgbClr val="5F6B7A"/>
                </a:solidFill>
              </a:rPr>
              <a:t>Quick Recap</a:t>
            </a:r>
            <a:endParaRPr/>
          </a:p>
        </p:txBody>
      </p:sp>
      <p:pic>
        <p:nvPicPr>
          <p:cNvPr id="486" name="Google Shape;486;p18" title="Recap_1_Lambda_Expressions.png"/>
          <p:cNvPicPr preferRelativeResize="0"/>
          <p:nvPr/>
        </p:nvPicPr>
        <p:blipFill rotWithShape="1">
          <a:blip r:embed="rId3">
            <a:alphaModFix/>
          </a:blip>
          <a:srcRect b="32031" l="0" r="0" t="14806"/>
          <a:stretch/>
        </p:blipFill>
        <p:spPr>
          <a:xfrm>
            <a:off x="0" y="2093032"/>
            <a:ext cx="21678899" cy="6482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17890b5fe3eed53b_0_131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Recap —</a:t>
            </a:r>
            <a:r>
              <a:rPr b="1" lang="en-US" sz="4030">
                <a:solidFill>
                  <a:srgbClr val="102C89"/>
                </a:solidFill>
              </a:rPr>
              <a:t> Delegates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h17890b5fe3eed53b_0_131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h17890b5fe3eed53b_0_131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h17890b5fe3eed53b_0_131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</a:t>
            </a:r>
            <a:r>
              <a:rPr lang="en-US" sz="1600">
                <a:solidFill>
                  <a:srgbClr val="5F6B7A"/>
                </a:solidFill>
              </a:rPr>
              <a:t>Quick Recap</a:t>
            </a:r>
            <a:endParaRPr/>
          </a:p>
        </p:txBody>
      </p:sp>
      <p:pic>
        <p:nvPicPr>
          <p:cNvPr id="495" name="Google Shape;495;h17890b5fe3eed53b_0_131" title="Recap_2_Delegate_Types.png"/>
          <p:cNvPicPr preferRelativeResize="0"/>
          <p:nvPr/>
        </p:nvPicPr>
        <p:blipFill rotWithShape="1">
          <a:blip r:embed="rId3">
            <a:alphaModFix/>
          </a:blip>
          <a:srcRect b="35218" l="0" r="0" t="14470"/>
          <a:stretch/>
        </p:blipFill>
        <p:spPr>
          <a:xfrm>
            <a:off x="0" y="1764375"/>
            <a:ext cx="21678899" cy="613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6"/>
          <p:cNvSpPr txBox="1"/>
          <p:nvPr/>
        </p:nvSpPr>
        <p:spPr>
          <a:xfrm>
            <a:off x="896112" y="3678936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0" sz="2200" u="none" cap="none" strike="noStrike">
                <a:solidFill>
                  <a:srgbClr val="3F56C8"/>
                </a:solidFill>
                <a:latin typeface="Arial"/>
                <a:ea typeface="Arial"/>
                <a:cs typeface="Arial"/>
                <a:sym typeface="Arial"/>
              </a:rPr>
              <a:t>SECTION </a:t>
            </a:r>
            <a:r>
              <a:rPr b="1" lang="en-US" spc="500" sz="2200">
                <a:solidFill>
                  <a:srgbClr val="3F56C8"/>
                </a:solidFill>
              </a:rPr>
              <a:t>04</a:t>
            </a:r>
            <a:endParaRPr/>
          </a:p>
        </p:txBody>
      </p:sp>
      <p:sp>
        <p:nvSpPr>
          <p:cNvPr id="501" name="Google Shape;501;p26"/>
          <p:cNvSpPr txBox="1"/>
          <p:nvPr/>
        </p:nvSpPr>
        <p:spPr>
          <a:xfrm>
            <a:off x="896112" y="4410456"/>
            <a:ext cx="12344400" cy="1877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66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Deferred vs Immediate Execution</a:t>
            </a:r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896112" y="6699504"/>
            <a:ext cx="1600200" cy="77724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6"/>
          <p:cNvSpPr txBox="1"/>
          <p:nvPr/>
        </p:nvSpPr>
        <p:spPr>
          <a:xfrm>
            <a:off x="896112" y="7193280"/>
            <a:ext cx="1207008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8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Understanding WHEN your query actually runs — the #1 source of LINQ bugs</a:t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13807440" y="3734426"/>
            <a:ext cx="6282751" cy="4719676"/>
          </a:xfrm>
          <a:custGeom>
            <a:rect b="b" l="l" r="r" t="t"/>
            <a:pathLst>
              <a:path extrusionOk="0" h="4059936" w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C5D9FB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14095095" y="3975726"/>
            <a:ext cx="5705856" cy="4242816"/>
          </a:xfrm>
          <a:custGeom>
            <a:rect b="b" l="l" r="r" t="t"/>
            <a:pathLst>
              <a:path extrusionOk="0" h="2340864" w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cap="flat" cmpd="sng" w="539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pc="0" sz="12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0">
                <a:solidFill>
                  <a:srgbClr val="102C89"/>
                </a:solidFill>
              </a:rPr>
              <a:t>4</a:t>
            </a:r>
            <a:endParaRPr b="1" i="0" spc="0" sz="1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Deferred Execution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Deferred vs Immediate Execution</a:t>
            </a:r>
            <a:endParaRPr/>
          </a:p>
        </p:txBody>
      </p:sp>
      <p:pic>
        <p:nvPicPr>
          <p:cNvPr id="515" name="Google Shape;515;p27" title="01_Deferred_Execution.png"/>
          <p:cNvPicPr preferRelativeResize="0"/>
          <p:nvPr/>
        </p:nvPicPr>
        <p:blipFill rotWithShape="1">
          <a:blip r:embed="rId3">
            <a:alphaModFix/>
          </a:blip>
          <a:srcRect b="10712" l="0" r="55823" t="28970"/>
          <a:stretch/>
        </p:blipFill>
        <p:spPr>
          <a:xfrm>
            <a:off x="0" y="3532925"/>
            <a:ext cx="9577277" cy="7355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7" title="01_Deferred_Execution.png"/>
          <p:cNvPicPr preferRelativeResize="0"/>
          <p:nvPr/>
        </p:nvPicPr>
        <p:blipFill rotWithShape="1">
          <a:blip r:embed="rId3">
            <a:alphaModFix/>
          </a:blip>
          <a:srcRect b="10717" l="44178" r="0" t="29610"/>
          <a:stretch/>
        </p:blipFill>
        <p:spPr>
          <a:xfrm>
            <a:off x="9577275" y="3611175"/>
            <a:ext cx="12101627" cy="727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7" title="01_Deferred_Execution.png"/>
          <p:cNvPicPr preferRelativeResize="0"/>
          <p:nvPr/>
        </p:nvPicPr>
        <p:blipFill rotWithShape="1">
          <a:blip r:embed="rId3">
            <a:alphaModFix/>
          </a:blip>
          <a:srcRect b="70389" l="0" r="0" t="13569"/>
          <a:stretch/>
        </p:blipFill>
        <p:spPr>
          <a:xfrm>
            <a:off x="0" y="1654825"/>
            <a:ext cx="21678899" cy="195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Immediate Execution — Forcing Query to Run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Deferred vs Immediate Execution</a:t>
            </a:r>
            <a:endParaRPr/>
          </a:p>
        </p:txBody>
      </p:sp>
      <p:pic>
        <p:nvPicPr>
          <p:cNvPr id="526" name="Google Shape;526;p28" title="02_Immediate_Execution.png"/>
          <p:cNvPicPr preferRelativeResize="0"/>
          <p:nvPr/>
        </p:nvPicPr>
        <p:blipFill rotWithShape="1">
          <a:blip r:embed="rId3">
            <a:alphaModFix/>
          </a:blip>
          <a:srcRect b="70853" l="0" r="0" t="13572"/>
          <a:stretch/>
        </p:blipFill>
        <p:spPr>
          <a:xfrm>
            <a:off x="0" y="1654825"/>
            <a:ext cx="21674675" cy="1898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8" title="02_Immediate_Execution.png"/>
          <p:cNvPicPr preferRelativeResize="0"/>
          <p:nvPr/>
        </p:nvPicPr>
        <p:blipFill rotWithShape="1">
          <a:blip r:embed="rId3">
            <a:alphaModFix/>
          </a:blip>
          <a:srcRect b="23651" l="0" r="40846" t="29431"/>
          <a:stretch/>
        </p:blipFill>
        <p:spPr>
          <a:xfrm>
            <a:off x="152400" y="3740475"/>
            <a:ext cx="12821100" cy="5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28" title="02_Immediate_Execution.png"/>
          <p:cNvPicPr preferRelativeResize="0"/>
          <p:nvPr/>
        </p:nvPicPr>
        <p:blipFill rotWithShape="1">
          <a:blip r:embed="rId3">
            <a:alphaModFix/>
          </a:blip>
          <a:srcRect b="23651" l="58812" r="2557" t="29431"/>
          <a:stretch/>
        </p:blipFill>
        <p:spPr>
          <a:xfrm>
            <a:off x="13051750" y="3892875"/>
            <a:ext cx="8373202" cy="5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9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Deferred vs Immediate — Visual Analogy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9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9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9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Deferred vs Immediate Execution</a:t>
            </a: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896112" y="2348865"/>
            <a:ext cx="4686300" cy="4769048"/>
          </a:xfrm>
          <a:prstGeom prst="roundRect">
            <a:avLst>
              <a:gd fmla="val 3252" name="adj"/>
            </a:avLst>
          </a:prstGeom>
          <a:solidFill>
            <a:srgbClr val="FDF4DE"/>
          </a:solidFill>
          <a:ln cap="flat" cmpd="sng" w="12700">
            <a:solidFill>
              <a:srgbClr val="F3E0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9"/>
          <p:cNvSpPr txBox="1"/>
          <p:nvPr/>
        </p:nvSpPr>
        <p:spPr>
          <a:xfrm>
            <a:off x="1219962" y="2596515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7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📝</a:t>
            </a:r>
            <a:endParaRPr/>
          </a:p>
        </p:txBody>
      </p:sp>
      <p:sp>
        <p:nvSpPr>
          <p:cNvPr id="539" name="Google Shape;539;p29"/>
          <p:cNvSpPr txBox="1"/>
          <p:nvPr/>
        </p:nvSpPr>
        <p:spPr>
          <a:xfrm>
            <a:off x="1219962" y="4120515"/>
            <a:ext cx="4038600" cy="5027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650" u="none" cap="none" strike="noStrike">
                <a:solidFill>
                  <a:srgbClr val="9A5B06"/>
                </a:solidFill>
                <a:latin typeface="Arial"/>
                <a:ea typeface="Arial"/>
                <a:cs typeface="Arial"/>
                <a:sym typeface="Arial"/>
              </a:rPr>
              <a:t>Deferred = Recipe</a:t>
            </a:r>
            <a:endParaRPr/>
          </a:p>
        </p:txBody>
      </p:sp>
      <p:sp>
        <p:nvSpPr>
          <p:cNvPr id="540" name="Google Shape;540;p29"/>
          <p:cNvSpPr txBox="1"/>
          <p:nvPr/>
        </p:nvSpPr>
        <p:spPr>
          <a:xfrm>
            <a:off x="1219962" y="4813756"/>
            <a:ext cx="4038600" cy="1942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You write the instructions.</a:t>
            </a:r>
            <a:endParaRPr/>
          </a:p>
          <a:p>
            <a:pPr indent="0" lvl="0" marL="0" marR="0" rtl="0" algn="ctr">
              <a:lnSpc>
                <a:spcPct val="14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Nothing is cooked yet.</a:t>
            </a:r>
            <a:endParaRPr/>
          </a:p>
          <a:p>
            <a:pPr indent="0" lvl="0" marL="0" marR="0" rtl="0" algn="ctr">
              <a:lnSpc>
                <a:spcPct val="14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If you </a:t>
            </a:r>
            <a:r>
              <a:rPr b="1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change ingredients</a:t>
            </a: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before cooking,</a:t>
            </a:r>
            <a:endParaRPr/>
          </a:p>
          <a:p>
            <a:pPr indent="0" lvl="0" marL="0" marR="0" rtl="0" algn="ctr">
              <a:lnSpc>
                <a:spcPct val="14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meal changes too!</a:t>
            </a:r>
            <a:endParaRPr/>
          </a:p>
        </p:txBody>
      </p:sp>
      <p:sp>
        <p:nvSpPr>
          <p:cNvPr id="541" name="Google Shape;541;p29"/>
          <p:cNvSpPr/>
          <p:nvPr/>
        </p:nvSpPr>
        <p:spPr>
          <a:xfrm>
            <a:off x="5887212" y="2348865"/>
            <a:ext cx="4686300" cy="4769048"/>
          </a:xfrm>
          <a:prstGeom prst="roundRect">
            <a:avLst>
              <a:gd fmla="val 3252" name="adj"/>
            </a:avLst>
          </a:prstGeom>
          <a:solidFill>
            <a:srgbClr val="EAF6EC"/>
          </a:solidFill>
          <a:ln cap="flat" cmpd="sng" w="12700">
            <a:solidFill>
              <a:srgbClr val="CBE7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9"/>
          <p:cNvSpPr txBox="1"/>
          <p:nvPr/>
        </p:nvSpPr>
        <p:spPr>
          <a:xfrm>
            <a:off x="6211062" y="2596515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7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🍽️</a:t>
            </a:r>
            <a:endParaRPr/>
          </a:p>
        </p:txBody>
      </p:sp>
      <p:sp>
        <p:nvSpPr>
          <p:cNvPr id="543" name="Google Shape;543;p29"/>
          <p:cNvSpPr txBox="1"/>
          <p:nvPr/>
        </p:nvSpPr>
        <p:spPr>
          <a:xfrm>
            <a:off x="6211062" y="4120515"/>
            <a:ext cx="4038600" cy="1005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9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650" u="none" cap="none" strike="noStrike">
                <a:solidFill>
                  <a:srgbClr val="1E6B34"/>
                </a:solidFill>
                <a:latin typeface="Arial"/>
                <a:ea typeface="Arial"/>
                <a:cs typeface="Arial"/>
                <a:sym typeface="Arial"/>
              </a:rPr>
              <a:t>Immediate = Cooked Meal</a:t>
            </a:r>
            <a:endParaRPr/>
          </a:p>
        </p:txBody>
      </p:sp>
      <p:sp>
        <p:nvSpPr>
          <p:cNvPr id="544" name="Google Shape;544;p29"/>
          <p:cNvSpPr txBox="1"/>
          <p:nvPr/>
        </p:nvSpPr>
        <p:spPr>
          <a:xfrm>
            <a:off x="6211062" y="5316498"/>
            <a:ext cx="4038600" cy="1553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You cook it RIGHT NOW.</a:t>
            </a:r>
            <a:endParaRPr/>
          </a:p>
          <a:p>
            <a:pPr indent="0" lvl="0" marL="0" marR="0" rtl="0" algn="ctr">
              <a:lnSpc>
                <a:spcPct val="14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meal is ready and frozen.</a:t>
            </a:r>
            <a:endParaRPr/>
          </a:p>
          <a:p>
            <a:pPr indent="0" lvl="0" marL="0" marR="0" rtl="0" algn="ctr">
              <a:lnSpc>
                <a:spcPct val="14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If you </a:t>
            </a:r>
            <a:r>
              <a:rPr b="1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change ingredients</a:t>
            </a: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after,</a:t>
            </a:r>
            <a:endParaRPr/>
          </a:p>
          <a:p>
            <a:pPr indent="0" lvl="0" marL="0" marR="0" rtl="0" algn="ctr">
              <a:lnSpc>
                <a:spcPct val="14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the meal stays the same!</a:t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11106900" y="2348876"/>
            <a:ext cx="9677400" cy="3187200"/>
          </a:xfrm>
          <a:prstGeom prst="roundRect">
            <a:avLst>
              <a:gd fmla="val 6622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11411712" y="2577465"/>
            <a:ext cx="133350" cy="13335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11640312" y="2577465"/>
            <a:ext cx="133350" cy="13335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11868912" y="2577465"/>
            <a:ext cx="133350" cy="13335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9"/>
          <p:cNvSpPr txBox="1"/>
          <p:nvPr/>
        </p:nvSpPr>
        <p:spPr>
          <a:xfrm>
            <a:off x="11449812" y="2920365"/>
            <a:ext cx="89916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📝 Recipe (Deferred) — instructions only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recipe = numbers.</a:t>
            </a:r>
            <a:r>
              <a:rPr b="0" i="0" lang="en-US" spc="0" sz="21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 =&gt; x &gt; </a:t>
            </a:r>
            <a:r>
              <a:rPr b="0" i="0" lang="en-US" spc="0" sz="21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🍽️ Cooked Meal (Immediate) — results now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meal = numbers.</a:t>
            </a:r>
            <a:r>
              <a:rPr b="0" i="0" lang="en-US" spc="0" sz="21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 =&gt; x &gt; </a:t>
            </a:r>
            <a:r>
              <a:rPr b="0" i="0" lang="en-US" spc="0" sz="21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0" i="0" lang="en-US" spc="0" sz="21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ToList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0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0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0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0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Deferred vs Immediate Execution</a:t>
            </a:r>
            <a:endParaRPr/>
          </a:p>
        </p:txBody>
      </p:sp>
      <p:pic>
        <p:nvPicPr>
          <p:cNvPr id="558" name="Google Shape;558;p30" title="04_Quick_Check_question.png"/>
          <p:cNvPicPr preferRelativeResize="0"/>
          <p:nvPr/>
        </p:nvPicPr>
        <p:blipFill rotWithShape="1">
          <a:blip r:embed="rId3">
            <a:alphaModFix/>
          </a:blip>
          <a:srcRect b="24168" l="0" r="0" t="13959"/>
          <a:stretch/>
        </p:blipFill>
        <p:spPr>
          <a:xfrm>
            <a:off x="0" y="1701775"/>
            <a:ext cx="21674675" cy="754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h17890b5fe3eed53b_0_202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h17890b5fe3eed53b_0_202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h17890b5fe3eed53b_0_202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h17890b5fe3eed53b_0_202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Deferred vs Immediate Execution</a:t>
            </a:r>
            <a:endParaRPr/>
          </a:p>
        </p:txBody>
      </p:sp>
      <p:pic>
        <p:nvPicPr>
          <p:cNvPr id="567" name="Google Shape;567;h17890b5fe3eed53b_0_202" title="05_Quick_Check_answer.png"/>
          <p:cNvPicPr preferRelativeResize="0"/>
          <p:nvPr/>
        </p:nvPicPr>
        <p:blipFill rotWithShape="1">
          <a:blip r:embed="rId3">
            <a:alphaModFix/>
          </a:blip>
          <a:srcRect b="26622" l="0" r="0" t="14468"/>
          <a:stretch/>
        </p:blipFill>
        <p:spPr>
          <a:xfrm>
            <a:off x="0" y="1764375"/>
            <a:ext cx="21678899" cy="71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1"/>
          <p:cNvSpPr txBox="1"/>
          <p:nvPr/>
        </p:nvSpPr>
        <p:spPr>
          <a:xfrm>
            <a:off x="896112" y="4218432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0" sz="2200" u="none" cap="none" strike="noStrike">
                <a:solidFill>
                  <a:srgbClr val="3F56C8"/>
                </a:solidFill>
                <a:latin typeface="Arial"/>
                <a:ea typeface="Arial"/>
                <a:cs typeface="Arial"/>
                <a:sym typeface="Arial"/>
              </a:rPr>
              <a:t>SECTION 0</a:t>
            </a:r>
            <a:r>
              <a:rPr b="1" lang="en-US" spc="500" sz="2200">
                <a:solidFill>
                  <a:srgbClr val="3F56C8"/>
                </a:solidFill>
              </a:rPr>
              <a:t>5</a:t>
            </a:r>
            <a:endParaRPr/>
          </a:p>
        </p:txBody>
      </p:sp>
      <p:sp>
        <p:nvSpPr>
          <p:cNvPr id="573" name="Google Shape;573;p31"/>
          <p:cNvSpPr txBox="1"/>
          <p:nvPr/>
        </p:nvSpPr>
        <p:spPr>
          <a:xfrm>
            <a:off x="896112" y="4949952"/>
            <a:ext cx="12344400" cy="1365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6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Filtering</a:t>
            </a:r>
            <a:endParaRPr/>
          </a:p>
        </p:txBody>
      </p:sp>
      <p:sp>
        <p:nvSpPr>
          <p:cNvPr id="574" name="Google Shape;574;p31"/>
          <p:cNvSpPr/>
          <p:nvPr/>
        </p:nvSpPr>
        <p:spPr>
          <a:xfrm>
            <a:off x="896112" y="6726936"/>
            <a:ext cx="1600200" cy="77724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1"/>
          <p:cNvSpPr txBox="1"/>
          <p:nvPr/>
        </p:nvSpPr>
        <p:spPr>
          <a:xfrm>
            <a:off x="896112" y="7220712"/>
            <a:ext cx="1207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8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Selecting elements with Where and OfType</a:t>
            </a:r>
            <a:endParaRPr/>
          </a:p>
        </p:txBody>
      </p:sp>
      <p:sp>
        <p:nvSpPr>
          <p:cNvPr id="576" name="Google Shape;576;p31"/>
          <p:cNvSpPr/>
          <p:nvPr/>
        </p:nvSpPr>
        <p:spPr>
          <a:xfrm>
            <a:off x="13807440" y="3734426"/>
            <a:ext cx="6282751" cy="4719676"/>
          </a:xfrm>
          <a:custGeom>
            <a:rect b="b" l="l" r="r" t="t"/>
            <a:pathLst>
              <a:path extrusionOk="0" h="4059936" w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C5D9FB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"/>
          <p:cNvSpPr/>
          <p:nvPr/>
        </p:nvSpPr>
        <p:spPr>
          <a:xfrm>
            <a:off x="14095095" y="3975726"/>
            <a:ext cx="5705856" cy="4242816"/>
          </a:xfrm>
          <a:custGeom>
            <a:rect b="b" l="l" r="r" t="t"/>
            <a:pathLst>
              <a:path extrusionOk="0" h="2340864" w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cap="flat" cmpd="sng" w="539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pc="0" sz="12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0">
                <a:solidFill>
                  <a:srgbClr val="102C89"/>
                </a:solidFill>
              </a:rPr>
              <a:t>5</a:t>
            </a:r>
            <a:endParaRPr b="1" i="0" spc="0" sz="1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2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Where() — The Most Common Filter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2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587" name="Google Shape;587;p32" title="01_Where.png"/>
          <p:cNvPicPr preferRelativeResize="0"/>
          <p:nvPr/>
        </p:nvPicPr>
        <p:blipFill rotWithShape="1">
          <a:blip r:embed="rId3">
            <a:alphaModFix/>
          </a:blip>
          <a:srcRect b="32177" l="50724" r="3042" t="29111"/>
          <a:stretch/>
        </p:blipFill>
        <p:spPr>
          <a:xfrm>
            <a:off x="11012857" y="3376281"/>
            <a:ext cx="10020823" cy="47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2" title="01_Where.png"/>
          <p:cNvPicPr preferRelativeResize="0"/>
          <p:nvPr/>
        </p:nvPicPr>
        <p:blipFill rotWithShape="1">
          <a:blip r:embed="rId3">
            <a:alphaModFix/>
          </a:blip>
          <a:srcRect b="71639" l="0" r="0" t="14768"/>
          <a:stretch/>
        </p:blipFill>
        <p:spPr>
          <a:xfrm>
            <a:off x="2875" y="1579125"/>
            <a:ext cx="21674675" cy="1657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9" name="Google Shape;589;p32"/>
          <p:cNvGrpSpPr/>
          <p:nvPr/>
        </p:nvGrpSpPr>
        <p:grpSpPr>
          <a:xfrm>
            <a:off x="468475" y="3189450"/>
            <a:ext cx="10427126" cy="7811344"/>
            <a:chOff x="468475" y="3189450"/>
            <a:chExt cx="10427126" cy="7811344"/>
          </a:xfrm>
        </p:grpSpPr>
        <p:pic>
          <p:nvPicPr>
            <p:cNvPr id="590" name="Google Shape;590;p32" title="01_Where.png"/>
            <p:cNvPicPr preferRelativeResize="0"/>
            <p:nvPr/>
          </p:nvPicPr>
          <p:blipFill rotWithShape="1">
            <a:blip r:embed="rId3">
              <a:alphaModFix/>
            </a:blip>
            <a:srcRect b="20316" l="2150" r="49740" t="29110"/>
            <a:stretch/>
          </p:blipFill>
          <p:spPr>
            <a:xfrm>
              <a:off x="468475" y="3189450"/>
              <a:ext cx="10427126" cy="6165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1" name="Google Shape;591;p32" title="01_Where.png"/>
            <p:cNvPicPr preferRelativeResize="0"/>
            <p:nvPr/>
          </p:nvPicPr>
          <p:blipFill rotWithShape="1">
            <a:blip r:embed="rId3">
              <a:alphaModFix/>
            </a:blip>
            <a:srcRect b="17681" l="50856" r="4231" t="67531"/>
            <a:stretch/>
          </p:blipFill>
          <p:spPr>
            <a:xfrm>
              <a:off x="1016000" y="9197969"/>
              <a:ext cx="9734825" cy="1802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3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Where() — Index Overload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3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3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3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600" name="Google Shape;600;p33" title="04_Where_Index_Overload.png"/>
          <p:cNvPicPr preferRelativeResize="0"/>
          <p:nvPr/>
        </p:nvPicPr>
        <p:blipFill rotWithShape="1">
          <a:blip r:embed="rId3">
            <a:alphaModFix/>
          </a:blip>
          <a:srcRect b="22114" l="0" r="0" t="13956"/>
          <a:stretch/>
        </p:blipFill>
        <p:spPr>
          <a:xfrm>
            <a:off x="0" y="1701775"/>
            <a:ext cx="21674675" cy="779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4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OfType&lt;T&gt;() — Filter by Type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609" name="Google Shape;609;p34" title="07_OfType.png"/>
          <p:cNvPicPr preferRelativeResize="0"/>
          <p:nvPr/>
        </p:nvPicPr>
        <p:blipFill rotWithShape="1">
          <a:blip r:embed="rId3">
            <a:alphaModFix/>
          </a:blip>
          <a:srcRect b="16080" l="0" r="0" t="13700"/>
          <a:stretch/>
        </p:blipFill>
        <p:spPr>
          <a:xfrm>
            <a:off x="0" y="1670475"/>
            <a:ext cx="21674675" cy="856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6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618" name="Google Shape;618;p36" title="02_Quick_Check_question.png"/>
          <p:cNvPicPr preferRelativeResize="0"/>
          <p:nvPr/>
        </p:nvPicPr>
        <p:blipFill rotWithShape="1">
          <a:blip r:embed="rId3">
            <a:alphaModFix/>
          </a:blip>
          <a:srcRect b="36491" l="0" r="0" t="14216"/>
          <a:stretch/>
        </p:blipFill>
        <p:spPr>
          <a:xfrm>
            <a:off x="0" y="1733075"/>
            <a:ext cx="21674675" cy="600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h17890b5fe3eed53b_0_283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h17890b5fe3eed53b_0_283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h17890b5fe3eed53b_0_283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h17890b5fe3eed53b_0_283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627" name="Google Shape;627;h17890b5fe3eed53b_0_283" title="03_Quick_Check_answer.png"/>
          <p:cNvPicPr preferRelativeResize="0"/>
          <p:nvPr/>
        </p:nvPicPr>
        <p:blipFill rotWithShape="1">
          <a:blip r:embed="rId3">
            <a:alphaModFix/>
          </a:blip>
          <a:srcRect b="39958" l="0" r="0" t="14857"/>
          <a:stretch/>
        </p:blipFill>
        <p:spPr>
          <a:xfrm>
            <a:off x="0" y="1811325"/>
            <a:ext cx="21674675" cy="550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h17890b5fe3eed53b_0_292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h17890b5fe3eed53b_0_292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h17890b5fe3eed53b_0_292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h17890b5fe3eed53b_0_292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636" name="Google Shape;636;h17890b5fe3eed53b_0_292" title="05_Quick_Check_question (2).png"/>
          <p:cNvPicPr preferRelativeResize="0"/>
          <p:nvPr/>
        </p:nvPicPr>
        <p:blipFill rotWithShape="1">
          <a:blip r:embed="rId3">
            <a:alphaModFix/>
          </a:blip>
          <a:srcRect b="40481" l="0" r="0" t="15112"/>
          <a:stretch/>
        </p:blipFill>
        <p:spPr>
          <a:xfrm>
            <a:off x="0" y="1842625"/>
            <a:ext cx="21678899" cy="541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h17890b5fe3eed53b_0_301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h17890b5fe3eed53b_0_301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h17890b5fe3eed53b_0_301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h17890b5fe3eed53b_0_301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645" name="Google Shape;645;h17890b5fe3eed53b_0_301" title="06_Quick_Check_answer (2).png"/>
          <p:cNvPicPr preferRelativeResize="0"/>
          <p:nvPr/>
        </p:nvPicPr>
        <p:blipFill rotWithShape="1">
          <a:blip r:embed="rId3">
            <a:alphaModFix/>
          </a:blip>
          <a:srcRect b="38683" l="0" r="0" t="14085"/>
          <a:stretch/>
        </p:blipFill>
        <p:spPr>
          <a:xfrm>
            <a:off x="0" y="1717426"/>
            <a:ext cx="21678899" cy="575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h17890b5fe3eed53b_0_310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h17890b5fe3eed53b_0_310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h17890b5fe3eed53b_0_310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h17890b5fe3eed53b_0_310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654" name="Google Shape;654;h17890b5fe3eed53b_0_310" title="08_Quick_Check_question.png"/>
          <p:cNvPicPr preferRelativeResize="0"/>
          <p:nvPr/>
        </p:nvPicPr>
        <p:blipFill rotWithShape="1">
          <a:blip r:embed="rId3">
            <a:alphaModFix/>
          </a:blip>
          <a:srcRect b="37519" l="0" r="0" t="14087"/>
          <a:stretch/>
        </p:blipFill>
        <p:spPr>
          <a:xfrm>
            <a:off x="0" y="1717425"/>
            <a:ext cx="21674675" cy="590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h17890b5fe3eed53b_0_319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h17890b5fe3eed53b_0_319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h17890b5fe3eed53b_0_319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h17890b5fe3eed53b_0_319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Filtering</a:t>
            </a:r>
            <a:endParaRPr/>
          </a:p>
        </p:txBody>
      </p:sp>
      <p:pic>
        <p:nvPicPr>
          <p:cNvPr id="663" name="Google Shape;663;h17890b5fe3eed53b_0_319" title="09_Quick_Check_answer.png"/>
          <p:cNvPicPr preferRelativeResize="0"/>
          <p:nvPr/>
        </p:nvPicPr>
        <p:blipFill rotWithShape="1">
          <a:blip r:embed="rId3">
            <a:alphaModFix/>
          </a:blip>
          <a:srcRect b="37904" l="0" r="0" t="14086"/>
          <a:stretch/>
        </p:blipFill>
        <p:spPr>
          <a:xfrm>
            <a:off x="0" y="1717425"/>
            <a:ext cx="21674675" cy="585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7"/>
          <p:cNvSpPr txBox="1"/>
          <p:nvPr/>
        </p:nvSpPr>
        <p:spPr>
          <a:xfrm>
            <a:off x="896112" y="4218432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0" sz="2200" u="none" cap="none" strike="noStrike">
                <a:solidFill>
                  <a:srgbClr val="3F56C8"/>
                </a:solidFill>
                <a:latin typeface="Arial"/>
                <a:ea typeface="Arial"/>
                <a:cs typeface="Arial"/>
                <a:sym typeface="Arial"/>
              </a:rPr>
              <a:t>SECTION 0</a:t>
            </a:r>
            <a:r>
              <a:rPr b="1" lang="en-US" spc="500" sz="2200">
                <a:solidFill>
                  <a:srgbClr val="3F56C8"/>
                </a:solidFill>
              </a:rPr>
              <a:t>6</a:t>
            </a:r>
            <a:endParaRPr/>
          </a:p>
        </p:txBody>
      </p:sp>
      <p:sp>
        <p:nvSpPr>
          <p:cNvPr id="669" name="Google Shape;669;p37"/>
          <p:cNvSpPr txBox="1"/>
          <p:nvPr/>
        </p:nvSpPr>
        <p:spPr>
          <a:xfrm>
            <a:off x="896112" y="4949952"/>
            <a:ext cx="12344400" cy="1365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6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Projection</a:t>
            </a:r>
            <a:endParaRPr/>
          </a:p>
        </p:txBody>
      </p:sp>
      <p:sp>
        <p:nvSpPr>
          <p:cNvPr id="670" name="Google Shape;670;p37"/>
          <p:cNvSpPr/>
          <p:nvPr/>
        </p:nvSpPr>
        <p:spPr>
          <a:xfrm>
            <a:off x="896112" y="6726936"/>
            <a:ext cx="1600200" cy="77724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7"/>
          <p:cNvSpPr txBox="1"/>
          <p:nvPr/>
        </p:nvSpPr>
        <p:spPr>
          <a:xfrm>
            <a:off x="896112" y="7220712"/>
            <a:ext cx="1207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8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Transforming data with Select and SelectMany</a:t>
            </a:r>
            <a:endParaRPr/>
          </a:p>
        </p:txBody>
      </p:sp>
      <p:sp>
        <p:nvSpPr>
          <p:cNvPr id="672" name="Google Shape;672;p37"/>
          <p:cNvSpPr/>
          <p:nvPr/>
        </p:nvSpPr>
        <p:spPr>
          <a:xfrm>
            <a:off x="13807440" y="3734426"/>
            <a:ext cx="6282751" cy="4719676"/>
          </a:xfrm>
          <a:custGeom>
            <a:rect b="b" l="l" r="r" t="t"/>
            <a:pathLst>
              <a:path extrusionOk="0" h="4059936" w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C5D9FB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7"/>
          <p:cNvSpPr/>
          <p:nvPr/>
        </p:nvSpPr>
        <p:spPr>
          <a:xfrm>
            <a:off x="14095095" y="3975726"/>
            <a:ext cx="5705856" cy="4242816"/>
          </a:xfrm>
          <a:custGeom>
            <a:rect b="b" l="l" r="r" t="t"/>
            <a:pathLst>
              <a:path extrusionOk="0" h="2340864" w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cap="flat" cmpd="sng" w="539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pc="0" sz="12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0">
                <a:solidFill>
                  <a:srgbClr val="102C89"/>
                </a:solidFill>
              </a:rPr>
              <a:t>6</a:t>
            </a:r>
            <a:endParaRPr b="1" i="0" spc="0" sz="1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7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Select() — Transform Each Element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683" name="Google Shape;683;p38" title="01_Select.png"/>
          <p:cNvPicPr preferRelativeResize="0"/>
          <p:nvPr/>
        </p:nvPicPr>
        <p:blipFill rotWithShape="1">
          <a:blip r:embed="rId3">
            <a:alphaModFix/>
          </a:blip>
          <a:srcRect b="72040" l="0" r="0" t="13318"/>
          <a:stretch/>
        </p:blipFill>
        <p:spPr>
          <a:xfrm>
            <a:off x="0" y="1513970"/>
            <a:ext cx="21674675" cy="178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8" title="01_Select.png"/>
          <p:cNvPicPr preferRelativeResize="0"/>
          <p:nvPr/>
        </p:nvPicPr>
        <p:blipFill rotWithShape="1">
          <a:blip r:embed="rId3">
            <a:alphaModFix/>
          </a:blip>
          <a:srcRect b="38712" l="49187" r="2722" t="28113"/>
          <a:stretch/>
        </p:blipFill>
        <p:spPr>
          <a:xfrm>
            <a:off x="10813675" y="3470299"/>
            <a:ext cx="10423475" cy="404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38" title="01_Select.png"/>
          <p:cNvPicPr preferRelativeResize="0"/>
          <p:nvPr/>
        </p:nvPicPr>
        <p:blipFill rotWithShape="1">
          <a:blip r:embed="rId3">
            <a:alphaModFix/>
          </a:blip>
          <a:srcRect b="27188" l="50998" r="3427" t="60042"/>
          <a:stretch/>
        </p:blipFill>
        <p:spPr>
          <a:xfrm>
            <a:off x="11273026" y="7593574"/>
            <a:ext cx="9878548" cy="155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38" title="01_Select.png"/>
          <p:cNvPicPr preferRelativeResize="0"/>
          <p:nvPr/>
        </p:nvPicPr>
        <p:blipFill rotWithShape="1">
          <a:blip r:embed="rId3">
            <a:alphaModFix/>
          </a:blip>
          <a:srcRect b="19319" l="3373" r="49981" t="27796"/>
          <a:stretch/>
        </p:blipFill>
        <p:spPr>
          <a:xfrm>
            <a:off x="1016000" y="3299175"/>
            <a:ext cx="10110700" cy="64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8" title="01_Select.png"/>
          <p:cNvPicPr preferRelativeResize="0"/>
          <p:nvPr/>
        </p:nvPicPr>
        <p:blipFill rotWithShape="1">
          <a:blip r:embed="rId3">
            <a:alphaModFix/>
          </a:blip>
          <a:srcRect b="14987" l="50891" r="3532" t="72244"/>
          <a:stretch/>
        </p:blipFill>
        <p:spPr>
          <a:xfrm>
            <a:off x="1499350" y="9594800"/>
            <a:ext cx="9144003" cy="1441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3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Select() — Index Overload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3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3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3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696" name="Google Shape;696;p53" title="04_Select_Index_Overload.png"/>
          <p:cNvPicPr preferRelativeResize="0"/>
          <p:nvPr/>
        </p:nvPicPr>
        <p:blipFill rotWithShape="1">
          <a:blip r:embed="rId3">
            <a:alphaModFix/>
          </a:blip>
          <a:srcRect b="20445" l="0" r="0" t="14088"/>
          <a:stretch/>
        </p:blipFill>
        <p:spPr>
          <a:xfrm>
            <a:off x="0" y="1717425"/>
            <a:ext cx="21674675" cy="798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2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SelectMany() — Flatten Nested Collections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62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62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62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705" name="Google Shape;705;p62" title="07_SelectMany.png"/>
          <p:cNvPicPr preferRelativeResize="0"/>
          <p:nvPr/>
        </p:nvPicPr>
        <p:blipFill rotWithShape="1">
          <a:blip r:embed="rId3">
            <a:alphaModFix/>
          </a:blip>
          <a:srcRect b="71046" l="0" r="0" t="14086"/>
          <a:stretch/>
        </p:blipFill>
        <p:spPr>
          <a:xfrm>
            <a:off x="2113" y="1595263"/>
            <a:ext cx="21674675" cy="1812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62" title="07_SelectMany.png"/>
          <p:cNvPicPr preferRelativeResize="0"/>
          <p:nvPr/>
        </p:nvPicPr>
        <p:blipFill rotWithShape="1">
          <a:blip r:embed="rId3">
            <a:alphaModFix/>
          </a:blip>
          <a:srcRect b="14416" l="50055" r="0" t="29555"/>
          <a:stretch/>
        </p:blipFill>
        <p:spPr>
          <a:xfrm>
            <a:off x="10799513" y="3530175"/>
            <a:ext cx="10825574" cy="683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62" title="07_SelectMany.png"/>
          <p:cNvPicPr preferRelativeResize="0"/>
          <p:nvPr/>
        </p:nvPicPr>
        <p:blipFill rotWithShape="1">
          <a:blip r:embed="rId3">
            <a:alphaModFix/>
          </a:blip>
          <a:srcRect b="14416" l="3280" r="49927" t="29555"/>
          <a:stretch/>
        </p:blipFill>
        <p:spPr>
          <a:xfrm>
            <a:off x="546475" y="3530175"/>
            <a:ext cx="10141998" cy="683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SelectMany() — Visual Comparison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6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67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716" name="Google Shape;716;p67" title="08_SelectMany_Visual_Comparison.png"/>
          <p:cNvPicPr preferRelativeResize="0"/>
          <p:nvPr/>
        </p:nvPicPr>
        <p:blipFill rotWithShape="1">
          <a:blip r:embed="rId3">
            <a:alphaModFix/>
          </a:blip>
          <a:srcRect b="34901" l="3840" r="3180" t="13933"/>
          <a:stretch/>
        </p:blipFill>
        <p:spPr>
          <a:xfrm>
            <a:off x="651563" y="2077375"/>
            <a:ext cx="20375777" cy="630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9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69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69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69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725" name="Google Shape;725;p69" title="02_Quick_Check_question.png"/>
          <p:cNvPicPr preferRelativeResize="0"/>
          <p:nvPr/>
        </p:nvPicPr>
        <p:blipFill rotWithShape="1">
          <a:blip r:embed="rId3">
            <a:alphaModFix/>
          </a:blip>
          <a:srcRect b="39056" l="0" r="0" t="15115"/>
          <a:stretch/>
        </p:blipFill>
        <p:spPr>
          <a:xfrm>
            <a:off x="0" y="1842625"/>
            <a:ext cx="21674675" cy="55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h17890b5fe3eed53b_0_36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h17890b5fe3eed53b_0_36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h17890b5fe3eed53b_0_368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h17890b5fe3eed53b_0_36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734" name="Google Shape;734;h17890b5fe3eed53b_0_368" title="03_Quick_Check_answer.png"/>
          <p:cNvPicPr preferRelativeResize="0"/>
          <p:nvPr/>
        </p:nvPicPr>
        <p:blipFill rotWithShape="1">
          <a:blip r:embed="rId3">
            <a:alphaModFix/>
          </a:blip>
          <a:srcRect b="39572" l="0" r="0" t="14601"/>
          <a:stretch/>
        </p:blipFill>
        <p:spPr>
          <a:xfrm>
            <a:off x="0" y="1780025"/>
            <a:ext cx="21674675" cy="55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h17890b5fe3eed53b_0_37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h17890b5fe3eed53b_0_37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h17890b5fe3eed53b_0_377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h17890b5fe3eed53b_0_37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743" name="Google Shape;743;h17890b5fe3eed53b_0_377" title="05_Quick_Check_question.png"/>
          <p:cNvPicPr preferRelativeResize="0"/>
          <p:nvPr/>
        </p:nvPicPr>
        <p:blipFill rotWithShape="1">
          <a:blip r:embed="rId3">
            <a:alphaModFix/>
          </a:blip>
          <a:srcRect b="36875" l="0" r="0" t="14088"/>
          <a:stretch/>
        </p:blipFill>
        <p:spPr>
          <a:xfrm>
            <a:off x="0" y="1717425"/>
            <a:ext cx="21674675" cy="597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h17890b5fe3eed53b_0_395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h17890b5fe3eed53b_0_395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h17890b5fe3eed53b_0_395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h17890b5fe3eed53b_0_395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752" name="Google Shape;752;h17890b5fe3eed53b_0_395" title="06_Quick_Check_answer.png"/>
          <p:cNvPicPr preferRelativeResize="0"/>
          <p:nvPr/>
        </p:nvPicPr>
        <p:blipFill rotWithShape="1">
          <a:blip r:embed="rId3">
            <a:alphaModFix/>
          </a:blip>
          <a:srcRect b="39713" l="0" r="0" t="14083"/>
          <a:stretch/>
        </p:blipFill>
        <p:spPr>
          <a:xfrm>
            <a:off x="0" y="1717425"/>
            <a:ext cx="21678899" cy="56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h17890b5fe3eed53b_0_404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h17890b5fe3eed53b_0_404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h17890b5fe3eed53b_0_404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h17890b5fe3eed53b_0_404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761" name="Google Shape;761;h17890b5fe3eed53b_0_404" title="09_Quick_Check_question.png"/>
          <p:cNvPicPr preferRelativeResize="0"/>
          <p:nvPr/>
        </p:nvPicPr>
        <p:blipFill rotWithShape="1">
          <a:blip r:embed="rId3">
            <a:alphaModFix/>
          </a:blip>
          <a:srcRect b="26096" l="0" r="0" t="13956"/>
          <a:stretch/>
        </p:blipFill>
        <p:spPr>
          <a:xfrm>
            <a:off x="2100" y="1520325"/>
            <a:ext cx="21674675" cy="730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h17890b5fe3eed53b_0_414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h17890b5fe3eed53b_0_414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h17890b5fe3eed53b_0_414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h17890b5fe3eed53b_0_414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Projection</a:t>
            </a:r>
            <a:endParaRPr/>
          </a:p>
        </p:txBody>
      </p:sp>
      <p:pic>
        <p:nvPicPr>
          <p:cNvPr id="770" name="Google Shape;770;h17890b5fe3eed53b_0_414" title="10_Quick_Check_answer.png"/>
          <p:cNvPicPr preferRelativeResize="0"/>
          <p:nvPr/>
        </p:nvPicPr>
        <p:blipFill rotWithShape="1">
          <a:blip r:embed="rId3">
            <a:alphaModFix/>
          </a:blip>
          <a:srcRect b="25574" l="0" r="0" t="13838"/>
          <a:stretch/>
        </p:blipFill>
        <p:spPr>
          <a:xfrm>
            <a:off x="2100" y="1520325"/>
            <a:ext cx="21674675" cy="73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0"/>
          <p:cNvSpPr txBox="1"/>
          <p:nvPr/>
        </p:nvSpPr>
        <p:spPr>
          <a:xfrm>
            <a:off x="896112" y="4218432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0" sz="2200" u="none" cap="none" strike="noStrike">
                <a:solidFill>
                  <a:srgbClr val="3F56C8"/>
                </a:solidFill>
                <a:latin typeface="Arial"/>
                <a:ea typeface="Arial"/>
                <a:cs typeface="Arial"/>
                <a:sym typeface="Arial"/>
              </a:rPr>
              <a:t>SECTION 0</a:t>
            </a:r>
            <a:r>
              <a:rPr b="1" lang="en-US" spc="500" sz="2200">
                <a:solidFill>
                  <a:srgbClr val="3F56C8"/>
                </a:solidFill>
              </a:rPr>
              <a:t>7</a:t>
            </a:r>
            <a:endParaRPr/>
          </a:p>
        </p:txBody>
      </p:sp>
      <p:sp>
        <p:nvSpPr>
          <p:cNvPr id="776" name="Google Shape;776;p70"/>
          <p:cNvSpPr txBox="1"/>
          <p:nvPr/>
        </p:nvSpPr>
        <p:spPr>
          <a:xfrm>
            <a:off x="896112" y="4949952"/>
            <a:ext cx="12344400" cy="1365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6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Ordering</a:t>
            </a:r>
            <a:endParaRPr/>
          </a:p>
        </p:txBody>
      </p:sp>
      <p:sp>
        <p:nvSpPr>
          <p:cNvPr id="777" name="Google Shape;777;p70"/>
          <p:cNvSpPr/>
          <p:nvPr/>
        </p:nvSpPr>
        <p:spPr>
          <a:xfrm>
            <a:off x="896112" y="6726936"/>
            <a:ext cx="1600200" cy="77724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70"/>
          <p:cNvSpPr txBox="1"/>
          <p:nvPr/>
        </p:nvSpPr>
        <p:spPr>
          <a:xfrm>
            <a:off x="896112" y="7220712"/>
            <a:ext cx="1207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8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Sorting results with OrderBy, ThenBy, and Reverse</a:t>
            </a:r>
            <a:endParaRPr/>
          </a:p>
        </p:txBody>
      </p:sp>
      <p:sp>
        <p:nvSpPr>
          <p:cNvPr id="779" name="Google Shape;779;p70"/>
          <p:cNvSpPr/>
          <p:nvPr/>
        </p:nvSpPr>
        <p:spPr>
          <a:xfrm>
            <a:off x="13807440" y="3734426"/>
            <a:ext cx="6282751" cy="4719676"/>
          </a:xfrm>
          <a:custGeom>
            <a:rect b="b" l="l" r="r" t="t"/>
            <a:pathLst>
              <a:path extrusionOk="0" h="4059936" w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C5D9FB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70"/>
          <p:cNvSpPr/>
          <p:nvPr/>
        </p:nvSpPr>
        <p:spPr>
          <a:xfrm>
            <a:off x="14095095" y="3975726"/>
            <a:ext cx="5705856" cy="4242816"/>
          </a:xfrm>
          <a:custGeom>
            <a:rect b="b" l="l" r="r" t="t"/>
            <a:pathLst>
              <a:path extrusionOk="0" h="2340864" w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cap="flat" cmpd="sng" w="539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pc="0" sz="120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0">
                <a:solidFill>
                  <a:srgbClr val="102C89"/>
                </a:solidFill>
              </a:rPr>
              <a:t>7</a:t>
            </a:r>
            <a:endParaRPr b="1" i="0" spc="0" sz="1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70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4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OrderBy() &amp; OrderByDescending()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4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4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74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Ordering</a:t>
            </a:r>
            <a:endParaRPr/>
          </a:p>
        </p:txBody>
      </p:sp>
      <p:pic>
        <p:nvPicPr>
          <p:cNvPr id="790" name="Google Shape;790;p74" title="01_OrderBy.png"/>
          <p:cNvPicPr preferRelativeResize="0"/>
          <p:nvPr/>
        </p:nvPicPr>
        <p:blipFill rotWithShape="1">
          <a:blip r:embed="rId3">
            <a:alphaModFix/>
          </a:blip>
          <a:srcRect b="71236" l="0" r="0" t="13704"/>
          <a:stretch/>
        </p:blipFill>
        <p:spPr>
          <a:xfrm>
            <a:off x="0" y="1592221"/>
            <a:ext cx="21674675" cy="1836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4" title="01_OrderBy.png"/>
          <p:cNvPicPr preferRelativeResize="0"/>
          <p:nvPr/>
        </p:nvPicPr>
        <p:blipFill rotWithShape="1">
          <a:blip r:embed="rId3">
            <a:alphaModFix/>
          </a:blip>
          <a:srcRect b="10371" l="2901" r="49224" t="29048"/>
          <a:stretch/>
        </p:blipFill>
        <p:spPr>
          <a:xfrm>
            <a:off x="797150" y="3443100"/>
            <a:ext cx="10376499" cy="738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74" title="01_OrderBy.png"/>
          <p:cNvPicPr preferRelativeResize="0"/>
          <p:nvPr/>
        </p:nvPicPr>
        <p:blipFill rotWithShape="1">
          <a:blip r:embed="rId3">
            <a:alphaModFix/>
          </a:blip>
          <a:srcRect b="10371" l="50651" r="3353" t="29048"/>
          <a:stretch/>
        </p:blipFill>
        <p:spPr>
          <a:xfrm>
            <a:off x="11227500" y="3532025"/>
            <a:ext cx="9969603" cy="738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ThenBy() — Multiple Sort Criteria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7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6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7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Ordering</a:t>
            </a:r>
            <a:endParaRPr/>
          </a:p>
        </p:txBody>
      </p:sp>
      <p:pic>
        <p:nvPicPr>
          <p:cNvPr id="801" name="Google Shape;801;p76" title="02_ThenBy.png"/>
          <p:cNvPicPr preferRelativeResize="0"/>
          <p:nvPr/>
        </p:nvPicPr>
        <p:blipFill rotWithShape="1">
          <a:blip r:embed="rId3">
            <a:alphaModFix/>
          </a:blip>
          <a:srcRect b="71158" l="0" r="0" t="13611"/>
          <a:stretch/>
        </p:blipFill>
        <p:spPr>
          <a:xfrm>
            <a:off x="0" y="1581722"/>
            <a:ext cx="21678899" cy="18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76" title="02_ThenBy.png"/>
          <p:cNvPicPr preferRelativeResize="0"/>
          <p:nvPr/>
        </p:nvPicPr>
        <p:blipFill rotWithShape="1">
          <a:blip r:embed="rId3">
            <a:alphaModFix/>
          </a:blip>
          <a:srcRect b="8966" l="0" r="0" t="75456"/>
          <a:stretch/>
        </p:blipFill>
        <p:spPr>
          <a:xfrm>
            <a:off x="0" y="9122922"/>
            <a:ext cx="21678899" cy="189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6" title="02_ThenBy.png"/>
          <p:cNvPicPr preferRelativeResize="0"/>
          <p:nvPr/>
        </p:nvPicPr>
        <p:blipFill rotWithShape="1">
          <a:blip r:embed="rId3">
            <a:alphaModFix/>
          </a:blip>
          <a:srcRect b="25416" l="0" r="0" t="28847"/>
          <a:stretch/>
        </p:blipFill>
        <p:spPr>
          <a:xfrm>
            <a:off x="0" y="3439000"/>
            <a:ext cx="21678899" cy="557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Reverse() — Flip the Order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7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77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Ordering</a:t>
            </a:r>
            <a:endParaRPr/>
          </a:p>
        </p:txBody>
      </p:sp>
      <p:pic>
        <p:nvPicPr>
          <p:cNvPr id="812" name="Google Shape;812;p77" title="03_Reverse.png"/>
          <p:cNvPicPr preferRelativeResize="0"/>
          <p:nvPr/>
        </p:nvPicPr>
        <p:blipFill rotWithShape="1">
          <a:blip r:embed="rId3">
            <a:alphaModFix/>
          </a:blip>
          <a:srcRect b="39318" l="0" r="0" t="14086"/>
          <a:stretch/>
        </p:blipFill>
        <p:spPr>
          <a:xfrm>
            <a:off x="0" y="1717425"/>
            <a:ext cx="21674675" cy="568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7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78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7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Ordering</a:t>
            </a:r>
            <a:endParaRPr/>
          </a:p>
        </p:txBody>
      </p:sp>
      <p:pic>
        <p:nvPicPr>
          <p:cNvPr id="821" name="Google Shape;821;p78" title="04_Quick_Check_question.png"/>
          <p:cNvPicPr preferRelativeResize="0"/>
          <p:nvPr/>
        </p:nvPicPr>
        <p:blipFill rotWithShape="1">
          <a:blip r:embed="rId3">
            <a:alphaModFix/>
          </a:blip>
          <a:srcRect b="36635" l="0" r="0" t="13440"/>
          <a:stretch/>
        </p:blipFill>
        <p:spPr>
          <a:xfrm>
            <a:off x="0" y="1639175"/>
            <a:ext cx="21678899" cy="608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h17890b5fe3eed53b_0_43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h17890b5fe3eed53b_0_43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h17890b5fe3eed53b_0_437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h17890b5fe3eed53b_0_43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Ordering</a:t>
            </a:r>
            <a:endParaRPr/>
          </a:p>
        </p:txBody>
      </p:sp>
      <p:pic>
        <p:nvPicPr>
          <p:cNvPr id="830" name="Google Shape;830;h17890b5fe3eed53b_0_437" title="05_Quick_Check_answer.png"/>
          <p:cNvPicPr preferRelativeResize="0"/>
          <p:nvPr/>
        </p:nvPicPr>
        <p:blipFill rotWithShape="1">
          <a:blip r:embed="rId3">
            <a:alphaModFix/>
          </a:blip>
          <a:srcRect b="39574" l="0" r="0" t="13966"/>
          <a:stretch/>
        </p:blipFill>
        <p:spPr>
          <a:xfrm>
            <a:off x="4225" y="1702800"/>
            <a:ext cx="21674675" cy="566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h17890b5fe3eed53b_0_44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h17890b5fe3eed53b_0_44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h17890b5fe3eed53b_0_446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h17890b5fe3eed53b_0_44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Ordering</a:t>
            </a:r>
            <a:endParaRPr/>
          </a:p>
        </p:txBody>
      </p:sp>
      <p:pic>
        <p:nvPicPr>
          <p:cNvPr id="839" name="Google Shape;839;h17890b5fe3eed53b_0_446" title="06_Quick_Check_question.png"/>
          <p:cNvPicPr preferRelativeResize="0"/>
          <p:nvPr/>
        </p:nvPicPr>
        <p:blipFill rotWithShape="1">
          <a:blip r:embed="rId3">
            <a:alphaModFix/>
          </a:blip>
          <a:srcRect b="14153" l="0" r="0" t="14474"/>
          <a:stretch/>
        </p:blipFill>
        <p:spPr>
          <a:xfrm>
            <a:off x="0" y="1764375"/>
            <a:ext cx="21674675" cy="870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h17890b5fe3eed53b_0_45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Quick Check 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h17890b5fe3eed53b_0_45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h17890b5fe3eed53b_0_456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h17890b5fe3eed53b_0_45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Ordering</a:t>
            </a:r>
            <a:endParaRPr/>
          </a:p>
        </p:txBody>
      </p:sp>
      <p:pic>
        <p:nvPicPr>
          <p:cNvPr id="848" name="Google Shape;848;h17890b5fe3eed53b_0_456" title="07_Quick_Check_answer.png"/>
          <p:cNvPicPr preferRelativeResize="0"/>
          <p:nvPr/>
        </p:nvPicPr>
        <p:blipFill rotWithShape="1">
          <a:blip r:embed="rId3">
            <a:alphaModFix/>
          </a:blip>
          <a:srcRect b="14663" l="0" r="0" t="14606"/>
          <a:stretch/>
        </p:blipFill>
        <p:spPr>
          <a:xfrm>
            <a:off x="4225" y="1780025"/>
            <a:ext cx="21674675" cy="862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h17890b5fe3eed53b_0_465"/>
          <p:cNvSpPr txBox="1"/>
          <p:nvPr/>
        </p:nvSpPr>
        <p:spPr>
          <a:xfrm>
            <a:off x="896112" y="4218432"/>
            <a:ext cx="9144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500" sz="2200" u="none" cap="none" strike="noStrike">
                <a:solidFill>
                  <a:srgbClr val="3F56C8"/>
                </a:solidFill>
                <a:latin typeface="Arial"/>
                <a:ea typeface="Arial"/>
                <a:cs typeface="Arial"/>
                <a:sym typeface="Arial"/>
              </a:rPr>
              <a:t>SECTION </a:t>
            </a:r>
            <a:r>
              <a:rPr b="1" lang="en-US" spc="500" sz="2200">
                <a:solidFill>
                  <a:srgbClr val="3F56C8"/>
                </a:solidFill>
              </a:rPr>
              <a:t>09</a:t>
            </a:r>
            <a:endParaRPr/>
          </a:p>
        </p:txBody>
      </p:sp>
      <p:sp>
        <p:nvSpPr>
          <p:cNvPr id="854" name="Google Shape;854;h17890b5fe3eed53b_0_465"/>
          <p:cNvSpPr txBox="1"/>
          <p:nvPr/>
        </p:nvSpPr>
        <p:spPr>
          <a:xfrm>
            <a:off x="896112" y="4949952"/>
            <a:ext cx="12344400" cy="1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60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Mini Exercises</a:t>
            </a:r>
            <a:endParaRPr/>
          </a:p>
        </p:txBody>
      </p:sp>
      <p:sp>
        <p:nvSpPr>
          <p:cNvPr id="855" name="Google Shape;855;h17890b5fe3eed53b_0_465"/>
          <p:cNvSpPr/>
          <p:nvPr/>
        </p:nvSpPr>
        <p:spPr>
          <a:xfrm>
            <a:off x="896112" y="6726936"/>
            <a:ext cx="1600200" cy="77700"/>
          </a:xfrm>
          <a:prstGeom prst="roundRect">
            <a:avLst>
              <a:gd fmla="val 50000" name="adj"/>
            </a:avLst>
          </a:prstGeom>
          <a:solidFill>
            <a:srgbClr val="102C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h17890b5fe3eed53b_0_465"/>
          <p:cNvSpPr txBox="1"/>
          <p:nvPr/>
        </p:nvSpPr>
        <p:spPr>
          <a:xfrm>
            <a:off x="896112" y="7220712"/>
            <a:ext cx="1207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8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Test your understanding with predict-the-output challenges</a:t>
            </a:r>
            <a:endParaRPr/>
          </a:p>
        </p:txBody>
      </p:sp>
      <p:sp>
        <p:nvSpPr>
          <p:cNvPr id="857" name="Google Shape;857;h17890b5fe3eed53b_0_465"/>
          <p:cNvSpPr/>
          <p:nvPr/>
        </p:nvSpPr>
        <p:spPr>
          <a:xfrm>
            <a:off x="13807440" y="3734426"/>
            <a:ext cx="6282751" cy="4719676"/>
          </a:xfrm>
          <a:custGeom>
            <a:rect b="b" l="l" r="r" t="t"/>
            <a:pathLst>
              <a:path extrusionOk="0" h="4059936" w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C5D9FB">
              <a:alpha val="302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h17890b5fe3eed53b_0_465"/>
          <p:cNvSpPr/>
          <p:nvPr/>
        </p:nvSpPr>
        <p:spPr>
          <a:xfrm>
            <a:off x="14095095" y="3975726"/>
            <a:ext cx="5705856" cy="4242816"/>
          </a:xfrm>
          <a:custGeom>
            <a:rect b="b" l="l" r="r" t="t"/>
            <a:pathLst>
              <a:path extrusionOk="0" h="2340864" w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cap="flat" cmpd="sng" w="539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12000">
                <a:solidFill>
                  <a:srgbClr val="102C89"/>
                </a:solidFill>
              </a:rPr>
              <a:t>09</a:t>
            </a:r>
            <a:endParaRPr b="1" i="0" spc="0" sz="1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h17890b5fe3eed53b_0_465"/>
          <p:cNvSpPr/>
          <p:nvPr/>
        </p:nvSpPr>
        <p:spPr>
          <a:xfrm>
            <a:off x="896112" y="11100816"/>
            <a:ext cx="19888200" cy="9600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0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Exercise #1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80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80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80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Mini Exercises</a:t>
            </a:r>
            <a:endParaRPr/>
          </a:p>
        </p:txBody>
      </p:sp>
      <p:sp>
        <p:nvSpPr>
          <p:cNvPr id="868" name="Google Shape;868;p80"/>
          <p:cNvSpPr txBox="1"/>
          <p:nvPr/>
        </p:nvSpPr>
        <p:spPr>
          <a:xfrm>
            <a:off x="896112" y="1691640"/>
            <a:ext cx="19887902" cy="42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EXERCISE 1 OF </a:t>
            </a:r>
            <a:r>
              <a:rPr b="1" lang="en-US" sz="2250">
                <a:solidFill>
                  <a:srgbClr val="5F6B7A"/>
                </a:solidFill>
              </a:rPr>
              <a:t>8</a:t>
            </a:r>
            <a:endParaRPr/>
          </a:p>
        </p:txBody>
      </p:sp>
      <p:sp>
        <p:nvSpPr>
          <p:cNvPr id="869" name="Google Shape;869;p80"/>
          <p:cNvSpPr/>
          <p:nvPr/>
        </p:nvSpPr>
        <p:spPr>
          <a:xfrm>
            <a:off x="896100" y="2381725"/>
            <a:ext cx="9637200" cy="3123300"/>
          </a:xfrm>
          <a:prstGeom prst="roundRect">
            <a:avLst>
              <a:gd fmla="val 7692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80"/>
          <p:cNvSpPr/>
          <p:nvPr/>
        </p:nvSpPr>
        <p:spPr>
          <a:xfrm>
            <a:off x="124663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80"/>
          <p:cNvSpPr/>
          <p:nvPr/>
        </p:nvSpPr>
        <p:spPr>
          <a:xfrm>
            <a:off x="150952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80"/>
          <p:cNvSpPr/>
          <p:nvPr/>
        </p:nvSpPr>
        <p:spPr>
          <a:xfrm>
            <a:off x="177241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0"/>
          <p:cNvSpPr txBox="1"/>
          <p:nvPr/>
        </p:nvSpPr>
        <p:spPr>
          <a:xfrm>
            <a:off x="1290447" y="3038951"/>
            <a:ext cx="8848576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0" i="0" lang="en-US" spc="0" sz="24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"Ahmed"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y = x;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y =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(x.Length);</a:t>
            </a:r>
            <a:endParaRPr/>
          </a:p>
        </p:txBody>
      </p:sp>
      <p:sp>
        <p:nvSpPr>
          <p:cNvPr id="874" name="Google Shape;874;p80"/>
          <p:cNvSpPr txBox="1"/>
          <p:nvPr/>
        </p:nvSpPr>
        <p:spPr>
          <a:xfrm>
            <a:off x="896150" y="5799306"/>
            <a:ext cx="9637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❓ What is the output?</a:t>
            </a:r>
            <a:endParaRPr/>
          </a:p>
        </p:txBody>
      </p:sp>
      <p:grpSp>
        <p:nvGrpSpPr>
          <p:cNvPr id="875" name="Google Shape;875;p80"/>
          <p:cNvGrpSpPr/>
          <p:nvPr/>
        </p:nvGrpSpPr>
        <p:grpSpPr>
          <a:xfrm>
            <a:off x="11146768" y="2381726"/>
            <a:ext cx="9637246" cy="1095375"/>
            <a:chOff x="11146768" y="2381726"/>
            <a:chExt cx="9637246" cy="1095375"/>
          </a:xfrm>
        </p:grpSpPr>
        <p:sp>
          <p:nvSpPr>
            <p:cNvPr id="876" name="Google Shape;876;p80"/>
            <p:cNvSpPr/>
            <p:nvPr/>
          </p:nvSpPr>
          <p:spPr>
            <a:xfrm>
              <a:off x="11146768" y="2381726"/>
              <a:ext cx="9637246" cy="1095375"/>
            </a:xfrm>
            <a:prstGeom prst="roundRect">
              <a:avLst>
                <a:gd fmla="val 16000" name="adj"/>
              </a:avLst>
            </a:prstGeom>
            <a:solidFill>
              <a:srgbClr val="EAF6EC"/>
            </a:solidFill>
            <a:ln cap="flat" cmpd="sng" w="12700">
              <a:solidFill>
                <a:srgbClr val="CBE7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80"/>
            <p:cNvSpPr txBox="1"/>
            <p:nvPr/>
          </p:nvSpPr>
          <p:spPr>
            <a:xfrm>
              <a:off x="11519196" y="2666524"/>
              <a:ext cx="8892391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✅ Output: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878" name="Google Shape;878;p80"/>
          <p:cNvGrpSpPr/>
          <p:nvPr/>
        </p:nvGrpSpPr>
        <p:grpSpPr>
          <a:xfrm>
            <a:off x="11146768" y="3783806"/>
            <a:ext cx="9637246" cy="2186985"/>
            <a:chOff x="11146768" y="3783806"/>
            <a:chExt cx="9637246" cy="2186985"/>
          </a:xfrm>
        </p:grpSpPr>
        <p:sp>
          <p:nvSpPr>
            <p:cNvPr id="879" name="Google Shape;879;p80"/>
            <p:cNvSpPr/>
            <p:nvPr/>
          </p:nvSpPr>
          <p:spPr>
            <a:xfrm>
              <a:off x="11146768" y="3783806"/>
              <a:ext cx="9637246" cy="2186985"/>
            </a:xfrm>
            <a:prstGeom prst="roundRect">
              <a:avLst>
                <a:gd fmla="val 8013" name="adj"/>
              </a:avLst>
            </a:prstGeom>
            <a:solidFill>
              <a:srgbClr val="EAF0FB"/>
            </a:solidFill>
            <a:ln cap="flat" cmpd="sng" w="12700">
              <a:solidFill>
                <a:srgbClr val="CFDC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80"/>
            <p:cNvSpPr txBox="1"/>
            <p:nvPr/>
          </p:nvSpPr>
          <p:spPr>
            <a:xfrm>
              <a:off x="11519196" y="4068604"/>
              <a:ext cx="8892391" cy="16173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x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is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var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→ type is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string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(fixed forever).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y = 10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makes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y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point to a new int —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x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still points to "Ahmed".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x.Length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= 5.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81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Exercise #2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81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81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81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Mini Exercises</a:t>
            </a:r>
            <a:endParaRPr/>
          </a:p>
        </p:txBody>
      </p:sp>
      <p:sp>
        <p:nvSpPr>
          <p:cNvPr id="889" name="Google Shape;889;p81"/>
          <p:cNvSpPr txBox="1"/>
          <p:nvPr/>
        </p:nvSpPr>
        <p:spPr>
          <a:xfrm>
            <a:off x="896112" y="1691640"/>
            <a:ext cx="19887902" cy="42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EXERCISE 2 OF </a:t>
            </a:r>
            <a:r>
              <a:rPr b="1" lang="en-US" sz="2250">
                <a:solidFill>
                  <a:srgbClr val="5F6B7A"/>
                </a:solidFill>
              </a:rPr>
              <a:t>8</a:t>
            </a:r>
            <a:endParaRPr/>
          </a:p>
        </p:txBody>
      </p:sp>
      <p:sp>
        <p:nvSpPr>
          <p:cNvPr id="890" name="Google Shape;890;p81"/>
          <p:cNvSpPr/>
          <p:nvPr/>
        </p:nvSpPr>
        <p:spPr>
          <a:xfrm>
            <a:off x="896112" y="2381726"/>
            <a:ext cx="9637246" cy="2847975"/>
          </a:xfrm>
          <a:prstGeom prst="roundRect">
            <a:avLst>
              <a:gd fmla="val 7692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81"/>
          <p:cNvSpPr/>
          <p:nvPr/>
        </p:nvSpPr>
        <p:spPr>
          <a:xfrm>
            <a:off x="124663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81"/>
          <p:cNvSpPr/>
          <p:nvPr/>
        </p:nvSpPr>
        <p:spPr>
          <a:xfrm>
            <a:off x="150952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81"/>
          <p:cNvSpPr/>
          <p:nvPr/>
        </p:nvSpPr>
        <p:spPr>
          <a:xfrm>
            <a:off x="177241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81"/>
          <p:cNvSpPr txBox="1"/>
          <p:nvPr/>
        </p:nvSpPr>
        <p:spPr>
          <a:xfrm>
            <a:off x="1290447" y="3038951"/>
            <a:ext cx="8848576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a =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b = </a:t>
            </a:r>
            <a:r>
              <a:rPr b="0" i="0" lang="en-US" spc="0" sz="24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"10"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result = a + b;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(result);</a:t>
            </a:r>
            <a:endParaRPr/>
          </a:p>
        </p:txBody>
      </p:sp>
      <p:sp>
        <p:nvSpPr>
          <p:cNvPr id="895" name="Google Shape;895;p81"/>
          <p:cNvSpPr txBox="1"/>
          <p:nvPr/>
        </p:nvSpPr>
        <p:spPr>
          <a:xfrm>
            <a:off x="896112" y="5536406"/>
            <a:ext cx="9637246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❓ What is the output?</a:t>
            </a:r>
            <a:endParaRPr/>
          </a:p>
        </p:txBody>
      </p:sp>
      <p:grpSp>
        <p:nvGrpSpPr>
          <p:cNvPr id="896" name="Google Shape;896;p81"/>
          <p:cNvGrpSpPr/>
          <p:nvPr/>
        </p:nvGrpSpPr>
        <p:grpSpPr>
          <a:xfrm>
            <a:off x="11146768" y="2381726"/>
            <a:ext cx="9637246" cy="1095375"/>
            <a:chOff x="11146768" y="2381726"/>
            <a:chExt cx="9637246" cy="1095375"/>
          </a:xfrm>
        </p:grpSpPr>
        <p:sp>
          <p:nvSpPr>
            <p:cNvPr id="897" name="Google Shape;897;p81"/>
            <p:cNvSpPr/>
            <p:nvPr/>
          </p:nvSpPr>
          <p:spPr>
            <a:xfrm>
              <a:off x="11146768" y="2381726"/>
              <a:ext cx="9637246" cy="1095375"/>
            </a:xfrm>
            <a:prstGeom prst="roundRect">
              <a:avLst>
                <a:gd fmla="val 16000" name="adj"/>
              </a:avLst>
            </a:prstGeom>
            <a:solidFill>
              <a:srgbClr val="EAF6EC"/>
            </a:solidFill>
            <a:ln cap="flat" cmpd="sng" w="12700">
              <a:solidFill>
                <a:srgbClr val="CBE7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81"/>
            <p:cNvSpPr txBox="1"/>
            <p:nvPr/>
          </p:nvSpPr>
          <p:spPr>
            <a:xfrm>
              <a:off x="11519196" y="2666524"/>
              <a:ext cx="8892391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✅ Output: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"510"</a:t>
              </a:r>
              <a:endParaRPr/>
            </a:p>
          </p:txBody>
        </p:sp>
      </p:grpSp>
      <p:grpSp>
        <p:nvGrpSpPr>
          <p:cNvPr id="899" name="Google Shape;899;p81"/>
          <p:cNvGrpSpPr/>
          <p:nvPr/>
        </p:nvGrpSpPr>
        <p:grpSpPr>
          <a:xfrm>
            <a:off x="11146768" y="3783806"/>
            <a:ext cx="9637246" cy="2160285"/>
            <a:chOff x="11146768" y="3783806"/>
            <a:chExt cx="9637246" cy="2160285"/>
          </a:xfrm>
        </p:grpSpPr>
        <p:sp>
          <p:nvSpPr>
            <p:cNvPr id="900" name="Google Shape;900;p81"/>
            <p:cNvSpPr/>
            <p:nvPr/>
          </p:nvSpPr>
          <p:spPr>
            <a:xfrm>
              <a:off x="11146768" y="3783806"/>
              <a:ext cx="9637246" cy="2160285"/>
            </a:xfrm>
            <a:prstGeom prst="roundRect">
              <a:avLst>
                <a:gd fmla="val 8112" name="adj"/>
              </a:avLst>
            </a:prstGeom>
            <a:solidFill>
              <a:srgbClr val="EAF0FB"/>
            </a:solidFill>
            <a:ln cap="flat" cmpd="sng" w="12700">
              <a:solidFill>
                <a:srgbClr val="CFDC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81"/>
            <p:cNvSpPr txBox="1"/>
            <p:nvPr/>
          </p:nvSpPr>
          <p:spPr>
            <a:xfrm>
              <a:off x="11519196" y="4068604"/>
              <a:ext cx="8892391" cy="1590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At runtime: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5 + "10"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— C# converts int to string for concatenation. Result is string "510", not mathematical 15!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2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Exercise #3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82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82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82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Mini Exercises</a:t>
            </a:r>
            <a:endParaRPr/>
          </a:p>
        </p:txBody>
      </p:sp>
      <p:sp>
        <p:nvSpPr>
          <p:cNvPr id="910" name="Google Shape;910;p82"/>
          <p:cNvSpPr txBox="1"/>
          <p:nvPr/>
        </p:nvSpPr>
        <p:spPr>
          <a:xfrm>
            <a:off x="896112" y="1691640"/>
            <a:ext cx="19887902" cy="42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EXERCISE 3 OF </a:t>
            </a:r>
            <a:r>
              <a:rPr b="1" lang="en-US" sz="2250">
                <a:solidFill>
                  <a:srgbClr val="5F6B7A"/>
                </a:solidFill>
              </a:rPr>
              <a:t>8</a:t>
            </a:r>
            <a:endParaRPr/>
          </a:p>
        </p:txBody>
      </p:sp>
      <p:sp>
        <p:nvSpPr>
          <p:cNvPr id="911" name="Google Shape;911;p82"/>
          <p:cNvSpPr/>
          <p:nvPr/>
        </p:nvSpPr>
        <p:spPr>
          <a:xfrm>
            <a:off x="896100" y="2381725"/>
            <a:ext cx="9637200" cy="4588200"/>
          </a:xfrm>
          <a:prstGeom prst="roundRect">
            <a:avLst>
              <a:gd fmla="val 5181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82"/>
          <p:cNvSpPr/>
          <p:nvPr/>
        </p:nvSpPr>
        <p:spPr>
          <a:xfrm>
            <a:off x="124663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82"/>
          <p:cNvSpPr/>
          <p:nvPr/>
        </p:nvSpPr>
        <p:spPr>
          <a:xfrm>
            <a:off x="150952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82"/>
          <p:cNvSpPr/>
          <p:nvPr/>
        </p:nvSpPr>
        <p:spPr>
          <a:xfrm>
            <a:off x="177241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82"/>
          <p:cNvSpPr txBox="1"/>
          <p:nvPr/>
        </p:nvSpPr>
        <p:spPr>
          <a:xfrm>
            <a:off x="1290447" y="3038951"/>
            <a:ext cx="8848576" cy="3220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Code 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x = </a:t>
            </a:r>
            <a:r>
              <a:rPr b="0" i="0" lang="en-US" spc="0" sz="24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len = x.Length;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7C87B5"/>
                </a:solidFill>
                <a:latin typeface="Consolas"/>
                <a:ea typeface="Consolas"/>
                <a:cs typeface="Consolas"/>
                <a:sym typeface="Consolas"/>
              </a:rPr>
              <a:t>// Code B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y = </a:t>
            </a:r>
            <a:r>
              <a:rPr b="0" i="0" lang="en-US" spc="0" sz="24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len2 = y.Length;</a:t>
            </a:r>
            <a:endParaRPr/>
          </a:p>
        </p:txBody>
      </p:sp>
      <p:sp>
        <p:nvSpPr>
          <p:cNvPr id="916" name="Google Shape;916;p82"/>
          <p:cNvSpPr txBox="1"/>
          <p:nvPr/>
        </p:nvSpPr>
        <p:spPr>
          <a:xfrm>
            <a:off x="896112" y="7179479"/>
            <a:ext cx="9637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❓ What is the output?</a:t>
            </a:r>
            <a:endParaRPr/>
          </a:p>
        </p:txBody>
      </p:sp>
      <p:grpSp>
        <p:nvGrpSpPr>
          <p:cNvPr id="917" name="Google Shape;917;p82"/>
          <p:cNvGrpSpPr/>
          <p:nvPr/>
        </p:nvGrpSpPr>
        <p:grpSpPr>
          <a:xfrm>
            <a:off x="11146768" y="2381726"/>
            <a:ext cx="9637246" cy="1095375"/>
            <a:chOff x="11146768" y="2381726"/>
            <a:chExt cx="9637246" cy="1095375"/>
          </a:xfrm>
        </p:grpSpPr>
        <p:sp>
          <p:nvSpPr>
            <p:cNvPr id="918" name="Google Shape;918;p82"/>
            <p:cNvSpPr/>
            <p:nvPr/>
          </p:nvSpPr>
          <p:spPr>
            <a:xfrm>
              <a:off x="11146768" y="2381726"/>
              <a:ext cx="9637246" cy="1095375"/>
            </a:xfrm>
            <a:prstGeom prst="roundRect">
              <a:avLst>
                <a:gd fmla="val 16000" name="adj"/>
              </a:avLst>
            </a:prstGeom>
            <a:solidFill>
              <a:srgbClr val="EAF6EC"/>
            </a:solidFill>
            <a:ln cap="flat" cmpd="sng" w="12700">
              <a:solidFill>
                <a:srgbClr val="CBE7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82"/>
            <p:cNvSpPr txBox="1"/>
            <p:nvPr/>
          </p:nvSpPr>
          <p:spPr>
            <a:xfrm>
              <a:off x="11519196" y="2666524"/>
              <a:ext cx="8892391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❌ Code A: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Compile Error!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✅ Code B: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920" name="Google Shape;920;p82"/>
          <p:cNvGrpSpPr/>
          <p:nvPr/>
        </p:nvGrpSpPr>
        <p:grpSpPr>
          <a:xfrm>
            <a:off x="11146768" y="3783806"/>
            <a:ext cx="9637246" cy="2186985"/>
            <a:chOff x="11146768" y="3783806"/>
            <a:chExt cx="9637246" cy="2186985"/>
          </a:xfrm>
        </p:grpSpPr>
        <p:sp>
          <p:nvSpPr>
            <p:cNvPr id="921" name="Google Shape;921;p82"/>
            <p:cNvSpPr/>
            <p:nvPr/>
          </p:nvSpPr>
          <p:spPr>
            <a:xfrm>
              <a:off x="11146768" y="3783806"/>
              <a:ext cx="9637246" cy="2186985"/>
            </a:xfrm>
            <a:prstGeom prst="roundRect">
              <a:avLst>
                <a:gd fmla="val 8013" name="adj"/>
              </a:avLst>
            </a:prstGeom>
            <a:solidFill>
              <a:srgbClr val="EAF0FB"/>
            </a:solidFill>
            <a:ln cap="flat" cmpd="sng" w="12700">
              <a:solidFill>
                <a:srgbClr val="CFDC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82"/>
            <p:cNvSpPr txBox="1"/>
            <p:nvPr/>
          </p:nvSpPr>
          <p:spPr>
            <a:xfrm>
              <a:off x="11519196" y="4068604"/>
              <a:ext cx="8892391" cy="16173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object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only exposes object methods — needs casting.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dynamic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skips compile-time checking, resolves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.Length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at runtime.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3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Exercise #4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83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83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83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Mini Exercises</a:t>
            </a:r>
            <a:endParaRPr/>
          </a:p>
        </p:txBody>
      </p:sp>
      <p:sp>
        <p:nvSpPr>
          <p:cNvPr id="931" name="Google Shape;931;p83"/>
          <p:cNvSpPr txBox="1"/>
          <p:nvPr/>
        </p:nvSpPr>
        <p:spPr>
          <a:xfrm>
            <a:off x="896112" y="1691640"/>
            <a:ext cx="19887902" cy="42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EXERCISE 4 OF </a:t>
            </a:r>
            <a:r>
              <a:rPr b="1" lang="en-US" sz="2250">
                <a:solidFill>
                  <a:srgbClr val="5F6B7A"/>
                </a:solidFill>
              </a:rPr>
              <a:t>8</a:t>
            </a:r>
            <a:endParaRPr/>
          </a:p>
        </p:txBody>
      </p:sp>
      <p:sp>
        <p:nvSpPr>
          <p:cNvPr id="932" name="Google Shape;932;p83"/>
          <p:cNvSpPr/>
          <p:nvPr/>
        </p:nvSpPr>
        <p:spPr>
          <a:xfrm>
            <a:off x="896100" y="2381725"/>
            <a:ext cx="9637200" cy="3036600"/>
          </a:xfrm>
          <a:prstGeom prst="roundRect">
            <a:avLst>
              <a:gd fmla="val 7692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83"/>
          <p:cNvSpPr/>
          <p:nvPr/>
        </p:nvSpPr>
        <p:spPr>
          <a:xfrm>
            <a:off x="124663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83"/>
          <p:cNvSpPr/>
          <p:nvPr/>
        </p:nvSpPr>
        <p:spPr>
          <a:xfrm>
            <a:off x="150952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83"/>
          <p:cNvSpPr/>
          <p:nvPr/>
        </p:nvSpPr>
        <p:spPr>
          <a:xfrm>
            <a:off x="177241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83"/>
          <p:cNvSpPr txBox="1"/>
          <p:nvPr/>
        </p:nvSpPr>
        <p:spPr>
          <a:xfrm>
            <a:off x="1290447" y="3038951"/>
            <a:ext cx="8848576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numbers = 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[] {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};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d = numbers;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d[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pc="0" sz="24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(numbers[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/>
          </a:p>
        </p:txBody>
      </p:sp>
      <p:sp>
        <p:nvSpPr>
          <p:cNvPr id="937" name="Google Shape;937;p83"/>
          <p:cNvSpPr txBox="1"/>
          <p:nvPr/>
        </p:nvSpPr>
        <p:spPr>
          <a:xfrm>
            <a:off x="896112" y="5599009"/>
            <a:ext cx="9637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❓ What is the output?</a:t>
            </a:r>
            <a:endParaRPr/>
          </a:p>
        </p:txBody>
      </p:sp>
      <p:grpSp>
        <p:nvGrpSpPr>
          <p:cNvPr id="938" name="Google Shape;938;p83"/>
          <p:cNvGrpSpPr/>
          <p:nvPr/>
        </p:nvGrpSpPr>
        <p:grpSpPr>
          <a:xfrm>
            <a:off x="11146768" y="2381726"/>
            <a:ext cx="9637246" cy="1095375"/>
            <a:chOff x="11146768" y="2381726"/>
            <a:chExt cx="9637246" cy="1095375"/>
          </a:xfrm>
        </p:grpSpPr>
        <p:sp>
          <p:nvSpPr>
            <p:cNvPr id="939" name="Google Shape;939;p83"/>
            <p:cNvSpPr/>
            <p:nvPr/>
          </p:nvSpPr>
          <p:spPr>
            <a:xfrm>
              <a:off x="11146768" y="2381726"/>
              <a:ext cx="9637246" cy="1095375"/>
            </a:xfrm>
            <a:prstGeom prst="roundRect">
              <a:avLst>
                <a:gd fmla="val 16000" name="adj"/>
              </a:avLst>
            </a:prstGeom>
            <a:solidFill>
              <a:srgbClr val="EAF6EC"/>
            </a:solidFill>
            <a:ln cap="flat" cmpd="sng" w="12700">
              <a:solidFill>
                <a:srgbClr val="CBE7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83"/>
            <p:cNvSpPr txBox="1"/>
            <p:nvPr/>
          </p:nvSpPr>
          <p:spPr>
            <a:xfrm>
              <a:off x="11519196" y="2666524"/>
              <a:ext cx="8892391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💥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Runtime Error!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750">
                  <a:solidFill>
                    <a:srgbClr val="1F2937"/>
                  </a:solidFill>
                </a:rPr>
                <a:t>RuntimeBinderException</a:t>
              </a:r>
              <a:endParaRPr/>
            </a:p>
          </p:txBody>
        </p:sp>
      </p:grpSp>
      <p:grpSp>
        <p:nvGrpSpPr>
          <p:cNvPr id="941" name="Google Shape;941;p83"/>
          <p:cNvGrpSpPr/>
          <p:nvPr/>
        </p:nvGrpSpPr>
        <p:grpSpPr>
          <a:xfrm>
            <a:off x="11146768" y="3783806"/>
            <a:ext cx="9637246" cy="1634505"/>
            <a:chOff x="11146768" y="3783806"/>
            <a:chExt cx="9637246" cy="1634505"/>
          </a:xfrm>
        </p:grpSpPr>
        <p:sp>
          <p:nvSpPr>
            <p:cNvPr id="942" name="Google Shape;942;p83"/>
            <p:cNvSpPr/>
            <p:nvPr/>
          </p:nvSpPr>
          <p:spPr>
            <a:xfrm>
              <a:off x="11146768" y="3783806"/>
              <a:ext cx="9637246" cy="1634505"/>
            </a:xfrm>
            <a:prstGeom prst="roundRect">
              <a:avLst>
                <a:gd fmla="val 10722" name="adj"/>
              </a:avLst>
            </a:prstGeom>
            <a:solidFill>
              <a:srgbClr val="EAF0FB"/>
            </a:solidFill>
            <a:ln cap="flat" cmpd="sng" w="12700">
              <a:solidFill>
                <a:srgbClr val="CFDC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83"/>
            <p:cNvSpPr txBox="1"/>
            <p:nvPr/>
          </p:nvSpPr>
          <p:spPr>
            <a:xfrm>
              <a:off x="11519196" y="4068604"/>
              <a:ext cx="8892391" cy="1064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It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compiles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(dynamic skips checks), but at runtime the array is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int[]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— can't store strings!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4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Exercise #5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84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84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84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Mini Exercises</a:t>
            </a:r>
            <a:endParaRPr/>
          </a:p>
        </p:txBody>
      </p:sp>
      <p:sp>
        <p:nvSpPr>
          <p:cNvPr id="952" name="Google Shape;952;p84"/>
          <p:cNvSpPr txBox="1"/>
          <p:nvPr/>
        </p:nvSpPr>
        <p:spPr>
          <a:xfrm>
            <a:off x="896112" y="1691640"/>
            <a:ext cx="19887902" cy="42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EXERCISE 5 OF </a:t>
            </a:r>
            <a:r>
              <a:rPr b="1" lang="en-US" sz="2250">
                <a:solidFill>
                  <a:srgbClr val="5F6B7A"/>
                </a:solidFill>
              </a:rPr>
              <a:t>8</a:t>
            </a:r>
            <a:endParaRPr/>
          </a:p>
        </p:txBody>
      </p:sp>
      <p:sp>
        <p:nvSpPr>
          <p:cNvPr id="953" name="Google Shape;953;p84"/>
          <p:cNvSpPr/>
          <p:nvPr/>
        </p:nvSpPr>
        <p:spPr>
          <a:xfrm>
            <a:off x="896100" y="2381725"/>
            <a:ext cx="9637200" cy="4101600"/>
          </a:xfrm>
          <a:prstGeom prst="roundRect">
            <a:avLst>
              <a:gd fmla="val 5813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84"/>
          <p:cNvSpPr/>
          <p:nvPr/>
        </p:nvSpPr>
        <p:spPr>
          <a:xfrm>
            <a:off x="124663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84"/>
          <p:cNvSpPr/>
          <p:nvPr/>
        </p:nvSpPr>
        <p:spPr>
          <a:xfrm>
            <a:off x="150952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84"/>
          <p:cNvSpPr/>
          <p:nvPr/>
        </p:nvSpPr>
        <p:spPr>
          <a:xfrm>
            <a:off x="177241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84"/>
          <p:cNvSpPr txBox="1"/>
          <p:nvPr/>
        </p:nvSpPr>
        <p:spPr>
          <a:xfrm>
            <a:off x="1290447" y="3038951"/>
            <a:ext cx="8848576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numbers = 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 {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};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query = numbers.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(n =&gt; n &gt;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numbers.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pc="0" sz="24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", "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query));</a:t>
            </a:r>
            <a:endParaRPr/>
          </a:p>
        </p:txBody>
      </p:sp>
      <p:sp>
        <p:nvSpPr>
          <p:cNvPr id="958" name="Google Shape;958;p84"/>
          <p:cNvSpPr txBox="1"/>
          <p:nvPr/>
        </p:nvSpPr>
        <p:spPr>
          <a:xfrm>
            <a:off x="896112" y="6644331"/>
            <a:ext cx="9637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❓ What is the output?</a:t>
            </a:r>
            <a:endParaRPr/>
          </a:p>
        </p:txBody>
      </p:sp>
      <p:grpSp>
        <p:nvGrpSpPr>
          <p:cNvPr id="959" name="Google Shape;959;p84"/>
          <p:cNvGrpSpPr/>
          <p:nvPr/>
        </p:nvGrpSpPr>
        <p:grpSpPr>
          <a:xfrm>
            <a:off x="11146768" y="2381726"/>
            <a:ext cx="9637246" cy="1095375"/>
            <a:chOff x="11146768" y="2381726"/>
            <a:chExt cx="9637246" cy="1095375"/>
          </a:xfrm>
        </p:grpSpPr>
        <p:sp>
          <p:nvSpPr>
            <p:cNvPr id="960" name="Google Shape;960;p84"/>
            <p:cNvSpPr/>
            <p:nvPr/>
          </p:nvSpPr>
          <p:spPr>
            <a:xfrm>
              <a:off x="11146768" y="2381726"/>
              <a:ext cx="9637246" cy="1095375"/>
            </a:xfrm>
            <a:prstGeom prst="roundRect">
              <a:avLst>
                <a:gd fmla="val 16000" name="adj"/>
              </a:avLst>
            </a:prstGeom>
            <a:solidFill>
              <a:srgbClr val="EAF6EC"/>
            </a:solidFill>
            <a:ln cap="flat" cmpd="sng" w="12700">
              <a:solidFill>
                <a:srgbClr val="CBE7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84"/>
            <p:cNvSpPr txBox="1"/>
            <p:nvPr/>
          </p:nvSpPr>
          <p:spPr>
            <a:xfrm>
              <a:off x="11519196" y="2666524"/>
              <a:ext cx="8892391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✅ Output: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2, 3, 4</a:t>
              </a:r>
              <a:endParaRPr/>
            </a:p>
          </p:txBody>
        </p:sp>
      </p:grpSp>
      <p:grpSp>
        <p:nvGrpSpPr>
          <p:cNvPr id="962" name="Google Shape;962;p84"/>
          <p:cNvGrpSpPr/>
          <p:nvPr/>
        </p:nvGrpSpPr>
        <p:grpSpPr>
          <a:xfrm>
            <a:off x="11146768" y="3783806"/>
            <a:ext cx="9637246" cy="2699415"/>
            <a:chOff x="11146768" y="3783806"/>
            <a:chExt cx="9637246" cy="2699415"/>
          </a:xfrm>
        </p:grpSpPr>
        <p:sp>
          <p:nvSpPr>
            <p:cNvPr id="963" name="Google Shape;963;p84"/>
            <p:cNvSpPr/>
            <p:nvPr/>
          </p:nvSpPr>
          <p:spPr>
            <a:xfrm>
              <a:off x="11146768" y="3783806"/>
              <a:ext cx="9637246" cy="2699415"/>
            </a:xfrm>
            <a:prstGeom prst="roundRect">
              <a:avLst>
                <a:gd fmla="val 6492" name="adj"/>
              </a:avLst>
            </a:prstGeom>
            <a:solidFill>
              <a:srgbClr val="EAF0FB"/>
            </a:solidFill>
            <a:ln cap="flat" cmpd="sng" w="12700">
              <a:solidFill>
                <a:srgbClr val="CFDC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84"/>
            <p:cNvSpPr txBox="1"/>
            <p:nvPr/>
          </p:nvSpPr>
          <p:spPr>
            <a:xfrm>
              <a:off x="11519196" y="4068604"/>
              <a:ext cx="8892391" cy="2129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Query is NOT executed when defined!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numbers.Add(4)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modifies the source. When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string.Join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iterates → query runs NOW with {1,2,3,4}.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6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Exercise #</a:t>
            </a:r>
            <a:r>
              <a:rPr b="1" lang="en-US" sz="4030">
                <a:solidFill>
                  <a:srgbClr val="102C89"/>
                </a:solidFill>
              </a:rPr>
              <a:t>6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86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86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86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Mini Exercises</a:t>
            </a:r>
            <a:endParaRPr/>
          </a:p>
        </p:txBody>
      </p:sp>
      <p:sp>
        <p:nvSpPr>
          <p:cNvPr id="973" name="Google Shape;973;p86"/>
          <p:cNvSpPr txBox="1"/>
          <p:nvPr/>
        </p:nvSpPr>
        <p:spPr>
          <a:xfrm>
            <a:off x="896112" y="1691640"/>
            <a:ext cx="19887902" cy="42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EXERCISE </a:t>
            </a:r>
            <a:r>
              <a:rPr b="1" lang="en-US" sz="2250">
                <a:solidFill>
                  <a:srgbClr val="5F6B7A"/>
                </a:solidFill>
              </a:rPr>
              <a:t>6</a:t>
            </a: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US" sz="2250">
                <a:solidFill>
                  <a:srgbClr val="5F6B7A"/>
                </a:solidFill>
              </a:rPr>
              <a:t>8</a:t>
            </a:r>
            <a:endParaRPr/>
          </a:p>
        </p:txBody>
      </p:sp>
      <p:sp>
        <p:nvSpPr>
          <p:cNvPr id="974" name="Google Shape;974;p86"/>
          <p:cNvSpPr/>
          <p:nvPr/>
        </p:nvSpPr>
        <p:spPr>
          <a:xfrm>
            <a:off x="896100" y="2381725"/>
            <a:ext cx="9637200" cy="4015200"/>
          </a:xfrm>
          <a:prstGeom prst="roundRect">
            <a:avLst>
              <a:gd fmla="val 5813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86"/>
          <p:cNvSpPr/>
          <p:nvPr/>
        </p:nvSpPr>
        <p:spPr>
          <a:xfrm>
            <a:off x="124663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86"/>
          <p:cNvSpPr/>
          <p:nvPr/>
        </p:nvSpPr>
        <p:spPr>
          <a:xfrm>
            <a:off x="150952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86"/>
          <p:cNvSpPr/>
          <p:nvPr/>
        </p:nvSpPr>
        <p:spPr>
          <a:xfrm>
            <a:off x="177241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86"/>
          <p:cNvSpPr txBox="1"/>
          <p:nvPr/>
        </p:nvSpPr>
        <p:spPr>
          <a:xfrm>
            <a:off x="1290447" y="3038951"/>
            <a:ext cx="8848576" cy="27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data = 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&gt;&gt; {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 {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},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 {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result = data.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 =&gt; x);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(result.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/>
          </a:p>
        </p:txBody>
      </p:sp>
      <p:sp>
        <p:nvSpPr>
          <p:cNvPr id="979" name="Google Shape;979;p86"/>
          <p:cNvSpPr txBox="1"/>
          <p:nvPr/>
        </p:nvSpPr>
        <p:spPr>
          <a:xfrm>
            <a:off x="896112" y="6519124"/>
            <a:ext cx="96372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❓ What is the output?</a:t>
            </a:r>
            <a:endParaRPr/>
          </a:p>
        </p:txBody>
      </p:sp>
      <p:grpSp>
        <p:nvGrpSpPr>
          <p:cNvPr id="980" name="Google Shape;980;p86"/>
          <p:cNvGrpSpPr/>
          <p:nvPr/>
        </p:nvGrpSpPr>
        <p:grpSpPr>
          <a:xfrm>
            <a:off x="11146768" y="2381726"/>
            <a:ext cx="9637246" cy="1095375"/>
            <a:chOff x="11146768" y="2381726"/>
            <a:chExt cx="9637246" cy="1095375"/>
          </a:xfrm>
        </p:grpSpPr>
        <p:sp>
          <p:nvSpPr>
            <p:cNvPr id="981" name="Google Shape;981;p86"/>
            <p:cNvSpPr/>
            <p:nvPr/>
          </p:nvSpPr>
          <p:spPr>
            <a:xfrm>
              <a:off x="11146768" y="2381726"/>
              <a:ext cx="9637246" cy="1095375"/>
            </a:xfrm>
            <a:prstGeom prst="roundRect">
              <a:avLst>
                <a:gd fmla="val 16000" name="adj"/>
              </a:avLst>
            </a:prstGeom>
            <a:solidFill>
              <a:srgbClr val="EAF6EC"/>
            </a:solidFill>
            <a:ln cap="flat" cmpd="sng" w="12700">
              <a:solidFill>
                <a:srgbClr val="CBE7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86"/>
            <p:cNvSpPr txBox="1"/>
            <p:nvPr/>
          </p:nvSpPr>
          <p:spPr>
            <a:xfrm>
              <a:off x="11519196" y="2666524"/>
              <a:ext cx="8892391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✅ Output: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(NOT 4!)</a:t>
              </a:r>
              <a:endParaRPr/>
            </a:p>
          </p:txBody>
        </p:sp>
      </p:grpSp>
      <p:grpSp>
        <p:nvGrpSpPr>
          <p:cNvPr id="983" name="Google Shape;983;p86"/>
          <p:cNvGrpSpPr/>
          <p:nvPr/>
        </p:nvGrpSpPr>
        <p:grpSpPr>
          <a:xfrm>
            <a:off x="11146768" y="3783806"/>
            <a:ext cx="9637246" cy="1647855"/>
            <a:chOff x="11146768" y="3783806"/>
            <a:chExt cx="9637246" cy="1647855"/>
          </a:xfrm>
        </p:grpSpPr>
        <p:sp>
          <p:nvSpPr>
            <p:cNvPr id="984" name="Google Shape;984;p86"/>
            <p:cNvSpPr/>
            <p:nvPr/>
          </p:nvSpPr>
          <p:spPr>
            <a:xfrm>
              <a:off x="11146768" y="3783806"/>
              <a:ext cx="9637246" cy="1647855"/>
            </a:xfrm>
            <a:prstGeom prst="roundRect">
              <a:avLst>
                <a:gd fmla="val 10635" name="adj"/>
              </a:avLst>
            </a:prstGeom>
            <a:solidFill>
              <a:srgbClr val="EAF0FB"/>
            </a:solidFill>
            <a:ln cap="flat" cmpd="sng" w="12700">
              <a:solidFill>
                <a:srgbClr val="CFDC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86"/>
            <p:cNvSpPr txBox="1"/>
            <p:nvPr/>
          </p:nvSpPr>
          <p:spPr>
            <a:xfrm>
              <a:off x="11519196" y="4068604"/>
              <a:ext cx="8892391" cy="1078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Select(x =&gt; x)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returns each inner list as-is → still 2 lists. Need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SelectMany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to flatten and get 4 items.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7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Exercise #</a:t>
            </a:r>
            <a:r>
              <a:rPr b="1" lang="en-US" sz="4030">
                <a:solidFill>
                  <a:srgbClr val="102C89"/>
                </a:solidFill>
              </a:rPr>
              <a:t>7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87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87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87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Mini Exercises</a:t>
            </a:r>
            <a:endParaRPr/>
          </a:p>
        </p:txBody>
      </p:sp>
      <p:sp>
        <p:nvSpPr>
          <p:cNvPr id="994" name="Google Shape;994;p87"/>
          <p:cNvSpPr txBox="1"/>
          <p:nvPr/>
        </p:nvSpPr>
        <p:spPr>
          <a:xfrm>
            <a:off x="896112" y="1691640"/>
            <a:ext cx="198882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7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9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EXERCISE </a:t>
            </a:r>
            <a:r>
              <a:rPr b="1" lang="en-US" sz="1950">
                <a:solidFill>
                  <a:srgbClr val="5F6B7A"/>
                </a:solidFill>
              </a:rPr>
              <a:t>7 </a:t>
            </a:r>
            <a:r>
              <a:rPr b="1" i="0" lang="en-US" spc="0" sz="19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US" sz="1950">
                <a:solidFill>
                  <a:srgbClr val="5F6B7A"/>
                </a:solidFill>
              </a:rPr>
              <a:t>8</a:t>
            </a:r>
            <a:endParaRPr/>
          </a:p>
        </p:txBody>
      </p:sp>
      <p:sp>
        <p:nvSpPr>
          <p:cNvPr id="995" name="Google Shape;995;p87"/>
          <p:cNvSpPr/>
          <p:nvPr/>
        </p:nvSpPr>
        <p:spPr>
          <a:xfrm>
            <a:off x="896100" y="2291727"/>
            <a:ext cx="12316800" cy="4302000"/>
          </a:xfrm>
          <a:prstGeom prst="roundRect">
            <a:avLst>
              <a:gd fmla="val 5181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87"/>
          <p:cNvSpPr/>
          <p:nvPr/>
        </p:nvSpPr>
        <p:spPr>
          <a:xfrm>
            <a:off x="1200912" y="2520315"/>
            <a:ext cx="133350" cy="13335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87"/>
          <p:cNvSpPr/>
          <p:nvPr/>
        </p:nvSpPr>
        <p:spPr>
          <a:xfrm>
            <a:off x="1429512" y="2520315"/>
            <a:ext cx="133350" cy="13335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87"/>
          <p:cNvSpPr/>
          <p:nvPr/>
        </p:nvSpPr>
        <p:spPr>
          <a:xfrm>
            <a:off x="1658112" y="2520315"/>
            <a:ext cx="133350" cy="133350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87"/>
          <p:cNvSpPr txBox="1"/>
          <p:nvPr/>
        </p:nvSpPr>
        <p:spPr>
          <a:xfrm>
            <a:off x="1239012" y="2863215"/>
            <a:ext cx="11630918" cy="2800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items = 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[] {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{ Name = </a:t>
            </a:r>
            <a:r>
              <a:rPr b="0" i="0" lang="en-US" spc="0" sz="21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2100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pc="0" sz="21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Value = </a:t>
            </a:r>
            <a:r>
              <a:rPr b="0" i="0" lang="en-US" spc="0" sz="21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},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{ Name = </a:t>
            </a:r>
            <a:r>
              <a:rPr b="0" i="0" lang="en-US" spc="0" sz="21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2100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US" spc="0" sz="21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Value = </a:t>
            </a:r>
            <a:r>
              <a:rPr b="0" i="0" lang="en-US" spc="0" sz="21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},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{ Name = </a:t>
            </a:r>
            <a:r>
              <a:rPr b="0" i="0" lang="en-US" spc="0" sz="21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2100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-US" spc="0" sz="21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Value = </a:t>
            </a:r>
            <a:r>
              <a:rPr b="0" i="0" lang="en-US" spc="0" sz="21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result = items.</a:t>
            </a:r>
            <a:r>
              <a:rPr b="0" i="0" lang="en-US" spc="0" sz="21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OrderBy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 =&gt; x.Name).</a:t>
            </a:r>
            <a:r>
              <a:rPr b="0" i="0" lang="en-US" spc="0" sz="21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OrderBy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(x =&gt; x.Value);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r </a:t>
            </a:r>
            <a:r>
              <a:rPr b="0" i="0" lang="en-US" spc="0" sz="21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result) </a:t>
            </a:r>
            <a:r>
              <a:rPr b="0" i="0" lang="en-US" spc="0" sz="21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1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(r.Name + </a:t>
            </a:r>
            <a:r>
              <a:rPr b="0" i="0" lang="en-US" spc="0" sz="21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b="0" i="0" lang="en-US" spc="0" sz="21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  <p:sp>
        <p:nvSpPr>
          <p:cNvPr id="1000" name="Google Shape;1000;p87"/>
          <p:cNvSpPr txBox="1"/>
          <p:nvPr/>
        </p:nvSpPr>
        <p:spPr>
          <a:xfrm>
            <a:off x="13746230" y="2291715"/>
            <a:ext cx="703808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❓ What is the output?</a:t>
            </a:r>
            <a:endParaRPr/>
          </a:p>
        </p:txBody>
      </p:sp>
      <p:grpSp>
        <p:nvGrpSpPr>
          <p:cNvPr id="1001" name="Google Shape;1001;p87"/>
          <p:cNvGrpSpPr/>
          <p:nvPr/>
        </p:nvGrpSpPr>
        <p:grpSpPr>
          <a:xfrm>
            <a:off x="13746230" y="3015615"/>
            <a:ext cx="7038082" cy="952500"/>
            <a:chOff x="13746230" y="3015615"/>
            <a:chExt cx="7038082" cy="952500"/>
          </a:xfrm>
        </p:grpSpPr>
        <p:sp>
          <p:nvSpPr>
            <p:cNvPr id="1002" name="Google Shape;1002;p87"/>
            <p:cNvSpPr/>
            <p:nvPr/>
          </p:nvSpPr>
          <p:spPr>
            <a:xfrm>
              <a:off x="13746230" y="3015615"/>
              <a:ext cx="7038082" cy="952500"/>
            </a:xfrm>
            <a:prstGeom prst="roundRect">
              <a:avLst>
                <a:gd fmla="val 16000" name="adj"/>
              </a:avLst>
            </a:prstGeom>
            <a:solidFill>
              <a:srgbClr val="EAF6EC"/>
            </a:solidFill>
            <a:ln cap="flat" cmpd="sng" w="12700">
              <a:solidFill>
                <a:srgbClr val="CBE7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87"/>
            <p:cNvSpPr txBox="1"/>
            <p:nvPr/>
          </p:nvSpPr>
          <p:spPr>
            <a:xfrm>
              <a:off x="14070080" y="3263265"/>
              <a:ext cx="639038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40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✅ Output: </a:t>
              </a:r>
              <a:r>
                <a:rPr b="1" lang="en-US" sz="2400">
                  <a:solidFill>
                    <a:srgbClr val="1F2937"/>
                  </a:solidFill>
                </a:rPr>
                <a:t>C A B </a:t>
              </a:r>
              <a:r>
                <a:rPr b="0" i="0" lang="en-US" spc="0" sz="240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(sorted by Value only!)</a:t>
              </a:r>
              <a:endParaRPr/>
            </a:p>
          </p:txBody>
        </p:sp>
      </p:grpSp>
      <p:grpSp>
        <p:nvGrpSpPr>
          <p:cNvPr id="1004" name="Google Shape;1004;p87"/>
          <p:cNvGrpSpPr/>
          <p:nvPr/>
        </p:nvGrpSpPr>
        <p:grpSpPr>
          <a:xfrm>
            <a:off x="13746230" y="4234815"/>
            <a:ext cx="7038082" cy="2358926"/>
            <a:chOff x="13746230" y="4234815"/>
            <a:chExt cx="7038082" cy="2358926"/>
          </a:xfrm>
        </p:grpSpPr>
        <p:sp>
          <p:nvSpPr>
            <p:cNvPr id="1005" name="Google Shape;1005;p87"/>
            <p:cNvSpPr/>
            <p:nvPr/>
          </p:nvSpPr>
          <p:spPr>
            <a:xfrm>
              <a:off x="13746230" y="4234815"/>
              <a:ext cx="7038082" cy="2358926"/>
            </a:xfrm>
            <a:prstGeom prst="roundRect">
              <a:avLst>
                <a:gd fmla="val 6460" name="adj"/>
              </a:avLst>
            </a:prstGeom>
            <a:solidFill>
              <a:srgbClr val="EAF0FB"/>
            </a:solidFill>
            <a:ln cap="flat" cmpd="sng" w="12700">
              <a:solidFill>
                <a:srgbClr val="CFDC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87"/>
            <p:cNvSpPr txBox="1"/>
            <p:nvPr/>
          </p:nvSpPr>
          <p:spPr>
            <a:xfrm>
              <a:off x="14070080" y="4482465"/>
              <a:ext cx="6390382" cy="1863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40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Second </a:t>
              </a:r>
              <a:r>
                <a:rPr b="0" i="0" lang="en-US" spc="0" sz="215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OrderBy</a:t>
              </a:r>
              <a:r>
                <a:rPr b="0" i="0" lang="en-US" spc="0" sz="240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-US" spc="0" sz="240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replaces</a:t>
              </a:r>
              <a:r>
                <a:rPr b="0" i="0" lang="en-US" spc="0" sz="240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the first! Items sorted by Value (1,2,3). To sort by Name THEN Value: </a:t>
              </a:r>
              <a:r>
                <a:rPr b="0" i="0" lang="en-US" spc="0" sz="215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.OrderBy(x =&gt; x.Name).ThenBy(x =&gt; x.Value)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8"/>
          <p:cNvSpPr/>
          <p:nvPr/>
        </p:nvSpPr>
        <p:spPr>
          <a:xfrm>
            <a:off x="894080" y="491367"/>
            <a:ext cx="173001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0"/>
              <a:buFont typeface="Arial"/>
              <a:buNone/>
            </a:pPr>
            <a:r>
              <a:rPr b="1" i="0" lang="en-US" spc="0" sz="4030" u="none" cap="none" strike="noStrike">
                <a:solidFill>
                  <a:srgbClr val="102C89"/>
                </a:solidFill>
                <a:latin typeface="Arial"/>
                <a:ea typeface="Arial"/>
                <a:cs typeface="Arial"/>
                <a:sym typeface="Arial"/>
              </a:rPr>
              <a:t>Exercise #</a:t>
            </a:r>
            <a:r>
              <a:rPr b="1" lang="en-US" sz="4030">
                <a:solidFill>
                  <a:srgbClr val="102C89"/>
                </a:solidFill>
              </a:rPr>
              <a:t>8</a:t>
            </a:r>
            <a:endParaRPr b="1" i="0" spc="0" sz="4030" u="none" cap="none" strike="noStrike">
              <a:solidFill>
                <a:srgbClr val="102C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88"/>
          <p:cNvSpPr/>
          <p:nvPr/>
        </p:nvSpPr>
        <p:spPr>
          <a:xfrm>
            <a:off x="1016000" y="1422400"/>
            <a:ext cx="1693200" cy="50700"/>
          </a:xfrm>
          <a:prstGeom prst="rect">
            <a:avLst/>
          </a:prstGeom>
          <a:solidFill>
            <a:srgbClr val="102C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88"/>
          <p:cNvSpPr/>
          <p:nvPr/>
        </p:nvSpPr>
        <p:spPr>
          <a:xfrm>
            <a:off x="896112" y="11100816"/>
            <a:ext cx="19888200" cy="9525"/>
          </a:xfrm>
          <a:prstGeom prst="rect">
            <a:avLst/>
          </a:prstGeom>
          <a:solidFill>
            <a:srgbClr val="E6E9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88"/>
          <p:cNvSpPr txBox="1"/>
          <p:nvPr/>
        </p:nvSpPr>
        <p:spPr>
          <a:xfrm>
            <a:off x="11640312" y="11292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6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LINQ · Mini Exercises</a:t>
            </a:r>
            <a:endParaRPr/>
          </a:p>
        </p:txBody>
      </p:sp>
      <p:sp>
        <p:nvSpPr>
          <p:cNvPr id="1015" name="Google Shape;1015;p88"/>
          <p:cNvSpPr txBox="1"/>
          <p:nvPr/>
        </p:nvSpPr>
        <p:spPr>
          <a:xfrm>
            <a:off x="896112" y="1691640"/>
            <a:ext cx="19887902" cy="42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EXERCISE </a:t>
            </a:r>
            <a:r>
              <a:rPr b="1" lang="en-US" sz="2250">
                <a:solidFill>
                  <a:srgbClr val="5F6B7A"/>
                </a:solidFill>
              </a:rPr>
              <a:t>8</a:t>
            </a:r>
            <a:r>
              <a:rPr b="1" i="0" lang="en-US" spc="0" sz="225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US" sz="2250">
                <a:solidFill>
                  <a:srgbClr val="5F6B7A"/>
                </a:solidFill>
              </a:rPr>
              <a:t>8</a:t>
            </a:r>
            <a:endParaRPr/>
          </a:p>
        </p:txBody>
      </p:sp>
      <p:sp>
        <p:nvSpPr>
          <p:cNvPr id="1016" name="Google Shape;1016;p88"/>
          <p:cNvSpPr/>
          <p:nvPr/>
        </p:nvSpPr>
        <p:spPr>
          <a:xfrm>
            <a:off x="896100" y="2381725"/>
            <a:ext cx="9637200" cy="3498900"/>
          </a:xfrm>
          <a:prstGeom prst="roundRect">
            <a:avLst>
              <a:gd fmla="val 6622" name="adj"/>
            </a:avLst>
          </a:prstGeom>
          <a:solidFill>
            <a:srgbClr val="101A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88"/>
          <p:cNvSpPr/>
          <p:nvPr/>
        </p:nvSpPr>
        <p:spPr>
          <a:xfrm>
            <a:off x="124663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88"/>
          <p:cNvSpPr/>
          <p:nvPr/>
        </p:nvSpPr>
        <p:spPr>
          <a:xfrm>
            <a:off x="150952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88"/>
          <p:cNvSpPr/>
          <p:nvPr/>
        </p:nvSpPr>
        <p:spPr>
          <a:xfrm>
            <a:off x="1772412" y="2644616"/>
            <a:ext cx="153352" cy="153352"/>
          </a:xfrm>
          <a:prstGeom prst="ellipse">
            <a:avLst/>
          </a:prstGeom>
          <a:solidFill>
            <a:srgbClr val="3A46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88"/>
          <p:cNvSpPr txBox="1"/>
          <p:nvPr/>
        </p:nvSpPr>
        <p:spPr>
          <a:xfrm>
            <a:off x="1290447" y="3038951"/>
            <a:ext cx="8848576" cy="2300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numbers = 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&gt; {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 };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numbers.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(n =&gt; n &gt; </a:t>
            </a:r>
            <a:r>
              <a:rPr b="0" i="0" lang="en-US" spc="0" sz="2400" u="none" cap="none" strike="noStrike">
                <a:solidFill>
                  <a:srgbClr val="A5E0C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400" u="none" cap="none" strike="noStrike">
                <a:solidFill>
                  <a:srgbClr val="7FD4E0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WriteLine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pc="0" sz="2400" u="none" cap="none" strike="noStrike">
                <a:solidFill>
                  <a:srgbClr val="8FB4F5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pc="0" sz="2400" u="none" cap="none" strike="noStrike">
                <a:solidFill>
                  <a:srgbClr val="C9A8F5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pc="0" sz="2400" u="none" cap="none" strike="noStrike">
                <a:solidFill>
                  <a:srgbClr val="F0C27A"/>
                </a:solidFill>
                <a:latin typeface="Consolas"/>
                <a:ea typeface="Consolas"/>
                <a:cs typeface="Consolas"/>
                <a:sym typeface="Consolas"/>
              </a:rPr>
              <a:t>", "</a:t>
            </a:r>
            <a:r>
              <a:rPr b="0" i="0" lang="en-US" spc="0" sz="2400" u="none" cap="none" strike="noStrike">
                <a:solidFill>
                  <a:srgbClr val="E6E9F5"/>
                </a:solidFill>
                <a:latin typeface="Consolas"/>
                <a:ea typeface="Consolas"/>
                <a:cs typeface="Consolas"/>
                <a:sym typeface="Consolas"/>
              </a:rPr>
              <a:t>, numbers));</a:t>
            </a:r>
            <a:endParaRPr/>
          </a:p>
        </p:txBody>
      </p:sp>
      <p:sp>
        <p:nvSpPr>
          <p:cNvPr id="1021" name="Google Shape;1021;p88"/>
          <p:cNvSpPr txBox="1"/>
          <p:nvPr/>
        </p:nvSpPr>
        <p:spPr>
          <a:xfrm>
            <a:off x="896112" y="5996464"/>
            <a:ext cx="9637246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27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❓ What is the output?</a:t>
            </a:r>
            <a:endParaRPr/>
          </a:p>
        </p:txBody>
      </p:sp>
      <p:grpSp>
        <p:nvGrpSpPr>
          <p:cNvPr id="1022" name="Google Shape;1022;p88"/>
          <p:cNvGrpSpPr/>
          <p:nvPr/>
        </p:nvGrpSpPr>
        <p:grpSpPr>
          <a:xfrm>
            <a:off x="11146768" y="2381726"/>
            <a:ext cx="9637246" cy="1095375"/>
            <a:chOff x="11146768" y="2381726"/>
            <a:chExt cx="9637246" cy="1095375"/>
          </a:xfrm>
        </p:grpSpPr>
        <p:sp>
          <p:nvSpPr>
            <p:cNvPr id="1023" name="Google Shape;1023;p88"/>
            <p:cNvSpPr/>
            <p:nvPr/>
          </p:nvSpPr>
          <p:spPr>
            <a:xfrm>
              <a:off x="11146768" y="2381726"/>
              <a:ext cx="9637246" cy="1095375"/>
            </a:xfrm>
            <a:prstGeom prst="roundRect">
              <a:avLst>
                <a:gd fmla="val 16000" name="adj"/>
              </a:avLst>
            </a:prstGeom>
            <a:solidFill>
              <a:srgbClr val="EAF6EC"/>
            </a:solidFill>
            <a:ln cap="flat" cmpd="sng" w="12700">
              <a:solidFill>
                <a:srgbClr val="CBE7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88"/>
            <p:cNvSpPr txBox="1"/>
            <p:nvPr/>
          </p:nvSpPr>
          <p:spPr>
            <a:xfrm>
              <a:off x="11519196" y="2666524"/>
              <a:ext cx="8892391" cy="52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✅ Output: </a:t>
              </a:r>
              <a:r>
                <a:rPr b="1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1, 2, 3, 4, 5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(unchanged!)</a:t>
              </a:r>
              <a:endParaRPr/>
            </a:p>
          </p:txBody>
        </p:sp>
      </p:grpSp>
      <p:grpSp>
        <p:nvGrpSpPr>
          <p:cNvPr id="1025" name="Google Shape;1025;p88"/>
          <p:cNvGrpSpPr/>
          <p:nvPr/>
        </p:nvGrpSpPr>
        <p:grpSpPr>
          <a:xfrm>
            <a:off x="11146768" y="3783806"/>
            <a:ext cx="9637246" cy="2712765"/>
            <a:chOff x="11146768" y="3783806"/>
            <a:chExt cx="9637246" cy="2712765"/>
          </a:xfrm>
        </p:grpSpPr>
        <p:sp>
          <p:nvSpPr>
            <p:cNvPr id="1026" name="Google Shape;1026;p88"/>
            <p:cNvSpPr/>
            <p:nvPr/>
          </p:nvSpPr>
          <p:spPr>
            <a:xfrm>
              <a:off x="11146768" y="3783806"/>
              <a:ext cx="9637246" cy="2712765"/>
            </a:xfrm>
            <a:prstGeom prst="roundRect">
              <a:avLst>
                <a:gd fmla="val 6460" name="adj"/>
              </a:avLst>
            </a:prstGeom>
            <a:solidFill>
              <a:srgbClr val="EAF0FB"/>
            </a:solidFill>
            <a:ln cap="flat" cmpd="sng" w="12700">
              <a:solidFill>
                <a:srgbClr val="CFDC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88"/>
            <p:cNvSpPr txBox="1"/>
            <p:nvPr/>
          </p:nvSpPr>
          <p:spPr>
            <a:xfrm>
              <a:off x="11519196" y="4068604"/>
              <a:ext cx="8892391" cy="2143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Where()</a:t>
              </a:r>
              <a:r>
                <a:rPr b="0" i="0" lang="en-US" spc="0" sz="2750" u="none" cap="none" strike="noStrike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returns a NEW sequence — it doesn't modify the original! The result was not stored anywhere. Fix: </a:t>
              </a:r>
              <a:r>
                <a:rPr b="0" i="0" lang="en-US" spc="0" sz="2500" u="none" cap="none" strike="noStrike">
                  <a:solidFill>
                    <a:srgbClr val="152A85"/>
                  </a:solidFill>
                  <a:highlight>
                    <a:srgbClr val="FFFFFF"/>
                  </a:highlight>
                  <a:latin typeface="Consolas"/>
                  <a:ea typeface="Consolas"/>
                  <a:cs typeface="Consolas"/>
                  <a:sym typeface="Consolas"/>
                </a:rPr>
                <a:t>var filtered = numbers.Where(n =&gt; n &gt; 3).ToList();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9"/>
          <p:cNvSpPr txBox="1"/>
          <p:nvPr/>
        </p:nvSpPr>
        <p:spPr>
          <a:xfrm>
            <a:off x="676656" y="41605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600" sz="2400" u="none" cap="none" strike="noStrike">
                <a:solidFill>
                  <a:srgbClr val="A9B8F0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1033" name="Google Shape;1033;p89"/>
          <p:cNvSpPr txBox="1"/>
          <p:nvPr/>
        </p:nvSpPr>
        <p:spPr>
          <a:xfrm>
            <a:off x="676656" y="4754880"/>
            <a:ext cx="13258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/>
          </a:p>
        </p:txBody>
      </p:sp>
      <p:sp>
        <p:nvSpPr>
          <p:cNvPr id="1034" name="Google Shape;1034;p89"/>
          <p:cNvSpPr/>
          <p:nvPr/>
        </p:nvSpPr>
        <p:spPr>
          <a:xfrm>
            <a:off x="676656" y="7086600"/>
            <a:ext cx="1783080" cy="7772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676656" y="112471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800" u="none" cap="none" strike="noStrike">
                <a:solidFill>
                  <a:srgbClr val="DCE3FA"/>
                </a:solidFill>
                <a:latin typeface="Arial"/>
                <a:ea typeface="Arial"/>
                <a:cs typeface="Arial"/>
                <a:sym typeface="Arial"/>
              </a:rPr>
              <a:t>.NET Track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2026-07-02T13:33:00Z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{"Label":"SDLC &amp; .NET Track Overview","ContentProducer":"001191110108MACG2KBH8F10000","ProduceID":"19ef8646-79c2-8be3-8000-0000b11fcf9a","ReservedCode1":"","ContentPropagator":"001191110108MACG2KBH8F20000","PropagateID":"19ef850d-b752-8e8d-8000-0925cac50d94","ReservedCode2":""}</vt:lpwstr>
  </property>
  <property fmtid="{D5CDD505-2E9C-101B-9397-08002B2CF9AE}" pid="3" name="ICV">
    <vt:lpwstr>BEB277962B8044DDB297F38D95190FCE_12</vt:lpwstr>
  </property>
  <property fmtid="{D5CDD505-2E9C-101B-9397-08002B2CF9AE}" pid="4" name="KSOProductBuildVer">
    <vt:lpwstr>1033-12.1.0.28485</vt:lpwstr>
  </property>
</Properties>
</file>